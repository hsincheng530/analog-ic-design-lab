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1" r:id="rId4"/>
    <p:sldId id="259" r:id="rId5"/>
    <p:sldId id="264" r:id="rId6"/>
    <p:sldId id="263" r:id="rId7"/>
    <p:sldId id="262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淺色樣式 2 - 輔色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C083E6E3-FA7D-4D7B-A595-EF9225AFEA82}" styleName="淺色樣式 1 - 輔色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0" autoAdjust="0"/>
    <p:restoredTop sz="94660"/>
  </p:normalViewPr>
  <p:slideViewPr>
    <p:cSldViewPr snapToGrid="0">
      <p:cViewPr varScale="1">
        <p:scale>
          <a:sx n="93" d="100"/>
          <a:sy n="93" d="100"/>
        </p:scale>
        <p:origin x="92" y="3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358870-82C3-4188-990A-B5C90157F9BE}" type="datetimeFigureOut">
              <a:rPr lang="zh-TW" altLang="en-US" smtClean="0"/>
              <a:t>2020/12/10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B7E560-D462-42F7-9316-9F12F99B192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5549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3A0290-2755-4AF8-856A-F0B6C6C0C8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DDB6963-A84C-4271-B930-867B26614B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6D1FC85-2592-4371-BB31-7C4D18435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EFAE5-E161-48DC-9097-7E51F438101A}" type="datetime1">
              <a:rPr lang="zh-TW" altLang="en-US" smtClean="0"/>
              <a:t>2020/12/10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0260E56-2575-4B78-8A0F-607679342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7C4434C-809C-44FE-84D1-E8A52AFCA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76B2E-AA36-4A0E-BDB4-73BA2062F8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4943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E2C3F3-C5A2-4279-AFA8-833E8183F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480E07D-C3D5-4352-BEB4-0536A1C726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90A2DA0-EAA0-4EB2-8BD0-C73C65B3F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A79F4-E658-4B4B-B24A-AE59D85E3218}" type="datetime1">
              <a:rPr lang="zh-TW" altLang="en-US" smtClean="0"/>
              <a:t>2020/12/10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3A3DED2-B8A3-4D49-B099-EE8CA3A64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9B1B51B-667C-4D12-AA12-EE59AD4A4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76B2E-AA36-4A0E-BDB4-73BA2062F8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9824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1117DF-5335-4736-9FC1-EF8ECE28B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53CDDFE-61C4-4302-8A3A-2259985F05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A19E7C7-39DC-47B7-8224-3F930AE2B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C1F5A-657A-4341-BD6B-430353F440CF}" type="datetime1">
              <a:rPr lang="zh-TW" altLang="en-US" smtClean="0"/>
              <a:t>2020/12/10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5053D3B-581B-4B3D-95A2-1C3ACDB80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68E6571-B36F-4825-848F-EFAA80309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76B2E-AA36-4A0E-BDB4-73BA2062F8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341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A09049-8AA2-47EB-B062-C1EEA338E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E1597A3-6DF4-43E0-9153-7603EE2FA9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314F8F4-231B-4EA9-B6F7-75B9EC16A9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5B70E88-A34E-4F30-8606-A3060F76C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381CC-B17F-4CE4-B375-37F3FB4066DF}" type="datetime1">
              <a:rPr lang="zh-TW" altLang="en-US" smtClean="0"/>
              <a:t>2020/12/10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B38CFD2-E362-4EDC-B51D-52624DD9F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0E6EA2C-F1F6-409B-9F32-B383E7E44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76B2E-AA36-4A0E-BDB4-73BA2062F8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9668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6875E5-6BE7-4B51-A87F-33328A158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47148C4-6A19-4799-A62A-EB768DF300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1348945-6EB7-498D-8502-1FAECA62AD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C089575-8430-4988-A3B7-C69479DEB7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66A18C9-13C6-464F-A300-54D4A57A17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C0319D92-EBC7-47C2-A58C-95A8D0627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39F1F-10D9-49FF-B2E2-622DB67E9A9E}" type="datetime1">
              <a:rPr lang="zh-TW" altLang="en-US" smtClean="0"/>
              <a:t>2020/12/10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2B1B7A9-5AAC-449F-AD4E-B0574443D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5872A61F-7F55-45AF-A0FC-09B65D378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76B2E-AA36-4A0E-BDB4-73BA2062F8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7937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8D9798-6350-4EC5-AEFF-1DAA104A0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411D071-F062-49DD-BF89-4A6405324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98EB2-8472-4680-AA25-6E42DBC7270B}" type="datetime1">
              <a:rPr lang="zh-TW" altLang="en-US" smtClean="0"/>
              <a:t>2020/12/10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43AB9A3-C143-4459-87E4-1DB746DA4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1A4DD6C-67F6-4FB2-8EFB-317BD0725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76B2E-AA36-4A0E-BDB4-73BA2062F8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0019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2DA716F5-C9B9-4F3D-9C1B-ED422F34F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C4AA3-D555-40C5-9913-FD083CF415FE}" type="datetime1">
              <a:rPr lang="zh-TW" altLang="en-US" smtClean="0"/>
              <a:t>2020/12/10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10638FE-CCCA-4165-8B9B-B1A850DDD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A92E912-70BE-41FE-A496-86F46F984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76B2E-AA36-4A0E-BDB4-73BA2062F8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1827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EF160D-8036-4D6D-83EE-179B8AA69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1F33067-0640-4886-9132-50035D812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EFAE7E1-9D4D-4F67-9244-6A3B7DAC73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1F97582-BF76-4CEE-92FC-738644C2B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A338E-CA28-4410-B4FE-8C5FF9CCFD73}" type="datetime1">
              <a:rPr lang="zh-TW" altLang="en-US" smtClean="0"/>
              <a:t>2020/12/10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FEA5E85-A721-403B-B67D-1C33C0824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72BAC22-B9DB-45E4-975A-5DC8E5005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76B2E-AA36-4A0E-BDB4-73BA2062F8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7939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362BA8-6EBB-4D99-B08D-47A821E12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6ED3B45D-909D-4A50-BAA1-8571867C79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83DDF82-AC88-4E8B-AB49-69D88C2A28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827B49D-B557-4F28-B541-3FC71D232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6D7-84DD-47E5-A014-B385D762B054}" type="datetime1">
              <a:rPr lang="zh-TW" altLang="en-US" smtClean="0"/>
              <a:t>2020/12/10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46AEDD3-520D-41B3-B948-165A9B917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6ED7629-1DEE-424D-94C5-2B9183EAF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76B2E-AA36-4A0E-BDB4-73BA2062F8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7739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685A2D-B913-4E50-B72F-DF602B49E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41D4197-6130-4043-8B07-C21E1C51D3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3428BC1-036E-43CF-9155-E6BA22B97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5406E-5780-4891-A4C1-23334517D122}" type="datetime1">
              <a:rPr lang="zh-TW" altLang="en-US" smtClean="0"/>
              <a:t>2020/12/10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F870748-643F-4B7B-8084-A85A44592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008A683-71BD-4E7C-A19F-BACE3612B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76B2E-AA36-4A0E-BDB4-73BA2062F8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4501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5960AF49-BBA0-40CE-BDDD-48BB7F620B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A3F80D6-E90B-4D80-8EFD-95C490043C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8C4992F-6BAF-4957-B5F9-6C731F3C7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14A56-318D-4C81-B590-2476CEAB9384}" type="datetime1">
              <a:rPr lang="zh-TW" altLang="en-US" smtClean="0"/>
              <a:t>2020/12/10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7241DB4-BDB5-4AF9-BB14-44B98F01B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D15EBF5-A45D-45A0-A8F3-18C032213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76B2E-AA36-4A0E-BDB4-73BA2062F8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138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4791C88-A674-4A48-BA54-B24BBF9E3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E4A4203-5C9D-4E2B-B5A0-094DB4B0CF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47E518D-7626-4A1C-8ECB-C24556175D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334DEC-4D2E-4360-8044-5F07819D6804}" type="datetime1">
              <a:rPr lang="zh-TW" altLang="en-US" smtClean="0"/>
              <a:t>2020/12/10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489C679-AE9E-40AA-BB3D-7E44E302C1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25860D5-83AF-4AD2-8A60-6774E1D3AD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C76B2E-AA36-4A0E-BDB4-73BA2062F8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9555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8901B5-A198-4F37-8462-0B0A83D031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>
                <a:latin typeface="+mn-lt"/>
                <a:ea typeface="標楷體" panose="03000509000000000000" pitchFamily="65" charset="-120"/>
              </a:rPr>
              <a:t>12/10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第六組專題報告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75CD560-4931-460A-8A93-677030B2CD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電機三 余欣澄、蔡汶玲、陳思穎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B3BB5B9-6C22-4E4E-8BAF-FC1F0699D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76B2E-AA36-4A0E-BDB4-73BA2062F877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0039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1F036B-1DA4-48FA-B478-53EEF12FB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898" y="365126"/>
            <a:ext cx="10466901" cy="899910"/>
          </a:xfrm>
        </p:spPr>
        <p:txBody>
          <a:bodyPr/>
          <a:lstStyle/>
          <a:p>
            <a:r>
              <a:rPr lang="en-US" altLang="zh-TW" dirty="0"/>
              <a:t>Simulation circuit diagram 1 (without R)</a:t>
            </a:r>
            <a:endParaRPr lang="zh-TW" altLang="en-US" dirty="0"/>
          </a:p>
        </p:txBody>
      </p:sp>
      <p:pic>
        <p:nvPicPr>
          <p:cNvPr id="5" name="內容版面配置區 4" descr="一張含有 文字, 電腦, 室內, 電子用品 的圖片&#10;&#10;自動產生的描述">
            <a:extLst>
              <a:ext uri="{FF2B5EF4-FFF2-40B4-BE49-F238E27FC236}">
                <a16:creationId xmlns:a16="http://schemas.microsoft.com/office/drawing/2014/main" id="{45C5B245-3EBD-4F70-B0DB-30525CB269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71" t="29843" r="11085" b="19372"/>
          <a:stretch/>
        </p:blipFill>
        <p:spPr>
          <a:xfrm>
            <a:off x="374045" y="1342252"/>
            <a:ext cx="11540161" cy="5359401"/>
          </a:xfr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DF1018A-CFAB-4B3B-8DA7-8DA094291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76B2E-AA36-4A0E-BDB4-73BA2062F877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9016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Transistor size</a:t>
            </a:r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9250721"/>
              </p:ext>
            </p:extLst>
          </p:nvPr>
        </p:nvGraphicFramePr>
        <p:xfrm>
          <a:off x="6429984" y="457678"/>
          <a:ext cx="5555575" cy="438912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264595">
                  <a:extLst>
                    <a:ext uri="{9D8B030D-6E8A-4147-A177-3AD203B41FA5}">
                      <a16:colId xmlns:a16="http://schemas.microsoft.com/office/drawing/2014/main" val="1481456591"/>
                    </a:ext>
                  </a:extLst>
                </a:gridCol>
                <a:gridCol w="1896893">
                  <a:extLst>
                    <a:ext uri="{9D8B030D-6E8A-4147-A177-3AD203B41FA5}">
                      <a16:colId xmlns:a16="http://schemas.microsoft.com/office/drawing/2014/main" val="3949751772"/>
                    </a:ext>
                  </a:extLst>
                </a:gridCol>
                <a:gridCol w="2394087">
                  <a:extLst>
                    <a:ext uri="{9D8B030D-6E8A-4147-A177-3AD203B41FA5}">
                      <a16:colId xmlns:a16="http://schemas.microsoft.com/office/drawing/2014/main" val="4126330097"/>
                    </a:ext>
                  </a:extLst>
                </a:gridCol>
              </a:tblGrid>
              <a:tr h="31976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Transistor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L(</a:t>
                      </a:r>
                      <a:r>
                        <a:rPr lang="en-US" altLang="zh-TW" dirty="0" err="1"/>
                        <a:t>nM</a:t>
                      </a:r>
                      <a:r>
                        <a:rPr lang="en-US" altLang="zh-TW" dirty="0"/>
                        <a:t>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W(</a:t>
                      </a:r>
                      <a:r>
                        <a:rPr lang="en-US" altLang="zh-TW" dirty="0" err="1"/>
                        <a:t>uM</a:t>
                      </a:r>
                      <a:r>
                        <a:rPr lang="en-US" altLang="zh-TW" dirty="0"/>
                        <a:t>)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0819312"/>
                  </a:ext>
                </a:extLst>
              </a:tr>
              <a:tr h="31976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Q1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360 </a:t>
                      </a:r>
                      <a:r>
                        <a:rPr lang="en-US" altLang="zh-TW" dirty="0" err="1"/>
                        <a:t>nM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 </a:t>
                      </a:r>
                      <a:r>
                        <a:rPr lang="en-US" altLang="zh-TW" dirty="0" err="1"/>
                        <a:t>uM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9809855"/>
                  </a:ext>
                </a:extLst>
              </a:tr>
              <a:tr h="31976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Q2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360 </a:t>
                      </a:r>
                      <a:r>
                        <a:rPr lang="en-US" altLang="zh-TW" dirty="0" err="1"/>
                        <a:t>nM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80 </a:t>
                      </a:r>
                      <a:r>
                        <a:rPr lang="en-US" altLang="zh-TW" dirty="0" err="1"/>
                        <a:t>uM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9326393"/>
                  </a:ext>
                </a:extLst>
              </a:tr>
              <a:tr h="31976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Q3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360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 err="1"/>
                        <a:t>nM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 </a:t>
                      </a:r>
                      <a:r>
                        <a:rPr lang="en-US" altLang="zh-TW" dirty="0" err="1"/>
                        <a:t>uM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0181155"/>
                  </a:ext>
                </a:extLst>
              </a:tr>
              <a:tr h="31976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Q4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360</a:t>
                      </a:r>
                      <a:r>
                        <a:rPr lang="en-US" altLang="zh-TW" baseline="0" dirty="0"/>
                        <a:t> </a:t>
                      </a:r>
                      <a:r>
                        <a:rPr lang="en-US" altLang="zh-TW" baseline="0" dirty="0" err="1"/>
                        <a:t>nM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 </a:t>
                      </a:r>
                      <a:r>
                        <a:rPr lang="en-US" altLang="zh-TW" dirty="0" err="1"/>
                        <a:t>uM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0590269"/>
                  </a:ext>
                </a:extLst>
              </a:tr>
              <a:tr h="31976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Q5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360</a:t>
                      </a:r>
                      <a:r>
                        <a:rPr lang="en-US" altLang="zh-TW" baseline="0" dirty="0"/>
                        <a:t> </a:t>
                      </a:r>
                      <a:r>
                        <a:rPr lang="en-US" altLang="zh-TW" baseline="0" dirty="0" err="1"/>
                        <a:t>nM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 </a:t>
                      </a:r>
                      <a:r>
                        <a:rPr lang="en-US" altLang="zh-TW" dirty="0" err="1"/>
                        <a:t>uM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7892777"/>
                  </a:ext>
                </a:extLst>
              </a:tr>
              <a:tr h="31976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Q6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360</a:t>
                      </a:r>
                      <a:r>
                        <a:rPr lang="en-US" altLang="zh-TW" baseline="0" dirty="0"/>
                        <a:t> </a:t>
                      </a:r>
                      <a:r>
                        <a:rPr lang="en-US" altLang="zh-TW" baseline="0" dirty="0" err="1"/>
                        <a:t>nM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 </a:t>
                      </a:r>
                      <a:r>
                        <a:rPr lang="en-US" altLang="zh-TW" dirty="0" err="1"/>
                        <a:t>uM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8188894"/>
                  </a:ext>
                </a:extLst>
              </a:tr>
              <a:tr h="31976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Q7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360</a:t>
                      </a:r>
                      <a:r>
                        <a:rPr lang="en-US" altLang="zh-TW" baseline="0" dirty="0"/>
                        <a:t> </a:t>
                      </a:r>
                      <a:r>
                        <a:rPr lang="en-US" altLang="zh-TW" baseline="0" dirty="0" err="1"/>
                        <a:t>nM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r>
                        <a:rPr lang="en-US" altLang="zh-TW" baseline="0" dirty="0"/>
                        <a:t> </a:t>
                      </a:r>
                      <a:r>
                        <a:rPr lang="en-US" altLang="zh-TW" baseline="0" dirty="0" err="1"/>
                        <a:t>uM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380248"/>
                  </a:ext>
                </a:extLst>
              </a:tr>
              <a:tr h="31976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Q8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360</a:t>
                      </a:r>
                      <a:r>
                        <a:rPr lang="en-US" altLang="zh-TW" baseline="0" dirty="0"/>
                        <a:t> </a:t>
                      </a:r>
                      <a:r>
                        <a:rPr lang="en-US" altLang="zh-TW" baseline="0" dirty="0" err="1"/>
                        <a:t>nM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 </a:t>
                      </a:r>
                      <a:r>
                        <a:rPr lang="en-US" altLang="zh-TW" dirty="0" err="1"/>
                        <a:t>uM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5317653"/>
                  </a:ext>
                </a:extLst>
              </a:tr>
              <a:tr h="31976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Q9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360</a:t>
                      </a:r>
                      <a:r>
                        <a:rPr lang="en-US" altLang="zh-TW" baseline="0" dirty="0"/>
                        <a:t> </a:t>
                      </a:r>
                      <a:r>
                        <a:rPr lang="en-US" altLang="zh-TW" baseline="0" dirty="0" err="1"/>
                        <a:t>nM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 </a:t>
                      </a:r>
                      <a:r>
                        <a:rPr lang="en-US" altLang="zh-TW" dirty="0" err="1"/>
                        <a:t>uM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4583597"/>
                  </a:ext>
                </a:extLst>
              </a:tr>
              <a:tr h="31976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Q10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360</a:t>
                      </a:r>
                      <a:r>
                        <a:rPr lang="en-US" altLang="zh-TW" baseline="0" dirty="0"/>
                        <a:t> </a:t>
                      </a:r>
                      <a:r>
                        <a:rPr lang="en-US" altLang="zh-TW" baseline="0" dirty="0" err="1"/>
                        <a:t>nM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 </a:t>
                      </a:r>
                      <a:r>
                        <a:rPr lang="en-US" altLang="zh-TW" dirty="0" err="1"/>
                        <a:t>uM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51961"/>
                  </a:ext>
                </a:extLst>
              </a:tr>
              <a:tr h="31976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Q11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360</a:t>
                      </a:r>
                      <a:r>
                        <a:rPr lang="en-US" altLang="zh-TW" baseline="0" dirty="0"/>
                        <a:t> </a:t>
                      </a:r>
                      <a:r>
                        <a:rPr lang="en-US" altLang="zh-TW" baseline="0" dirty="0" err="1"/>
                        <a:t>nM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 </a:t>
                      </a:r>
                      <a:r>
                        <a:rPr lang="en-US" altLang="zh-TW" dirty="0" err="1"/>
                        <a:t>uM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6949669"/>
                  </a:ext>
                </a:extLst>
              </a:tr>
            </a:tbl>
          </a:graphicData>
        </a:graphic>
      </p:graphicFrame>
      <p:pic>
        <p:nvPicPr>
          <p:cNvPr id="6" name="內容版面配置區 4">
            <a:extLst>
              <a:ext uri="{FF2B5EF4-FFF2-40B4-BE49-F238E27FC236}">
                <a16:creationId xmlns:a16="http://schemas.microsoft.com/office/drawing/2014/main" id="{BB9A039B-DFA2-45AF-8820-F82E9D9919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73" t="47745" r="12496" b="13924"/>
          <a:stretch/>
        </p:blipFill>
        <p:spPr>
          <a:xfrm>
            <a:off x="8757" y="1994617"/>
            <a:ext cx="6322781" cy="3038021"/>
          </a:xfr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E0EA72B-8007-49C5-8B70-C229CC3C4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76B2E-AA36-4A0E-BDB4-73BA2062F877}" type="slidenum">
              <a:rPr lang="zh-TW" altLang="en-US" smtClean="0"/>
              <a:t>3</a:t>
            </a:fld>
            <a:endParaRPr lang="zh-TW" altLang="en-US"/>
          </a:p>
        </p:txBody>
      </p:sp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4BD1AC51-397F-4A70-97EC-38726259A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5143896"/>
              </p:ext>
            </p:extLst>
          </p:nvPr>
        </p:nvGraphicFramePr>
        <p:xfrm>
          <a:off x="6429984" y="5111077"/>
          <a:ext cx="4719435" cy="11567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356320">
                  <a:extLst>
                    <a:ext uri="{9D8B030D-6E8A-4147-A177-3AD203B41FA5}">
                      <a16:colId xmlns:a16="http://schemas.microsoft.com/office/drawing/2014/main" val="3977910369"/>
                    </a:ext>
                  </a:extLst>
                </a:gridCol>
                <a:gridCol w="3363115">
                  <a:extLst>
                    <a:ext uri="{9D8B030D-6E8A-4147-A177-3AD203B41FA5}">
                      <a16:colId xmlns:a16="http://schemas.microsoft.com/office/drawing/2014/main" val="1503811710"/>
                    </a:ext>
                  </a:extLst>
                </a:gridCol>
              </a:tblGrid>
              <a:tr h="425240">
                <a:tc>
                  <a:txBody>
                    <a:bodyPr/>
                    <a:lstStyle/>
                    <a:p>
                      <a:r>
                        <a:rPr lang="en-US" altLang="zh-TW" dirty="0"/>
                        <a:t>component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Value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815460"/>
                  </a:ext>
                </a:extLst>
              </a:tr>
              <a:tr h="359739">
                <a:tc>
                  <a:txBody>
                    <a:bodyPr/>
                    <a:lstStyle/>
                    <a:p>
                      <a:r>
                        <a:rPr lang="en-US" altLang="zh-TW" dirty="0"/>
                        <a:t>Cc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250fF / 500fF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9334991"/>
                  </a:ext>
                </a:extLst>
              </a:tr>
              <a:tr h="359739">
                <a:tc>
                  <a:txBody>
                    <a:bodyPr/>
                    <a:lstStyle/>
                    <a:p>
                      <a:r>
                        <a:rPr lang="en-US" altLang="zh-TW" dirty="0"/>
                        <a:t>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NA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03932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0358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E42BD2-A43A-46FA-B43D-2A61BC210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DE7A9AE9-CAB1-45F8-8CFA-F85FF4F759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2"/>
          <a:stretch/>
        </p:blipFill>
        <p:spPr>
          <a:xfrm>
            <a:off x="610109" y="286651"/>
            <a:ext cx="10971782" cy="4691749"/>
          </a:xfrm>
        </p:spPr>
      </p:pic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41488C3-45C9-4D60-9352-5D5057F862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1898840"/>
              </p:ext>
            </p:extLst>
          </p:nvPr>
        </p:nvGraphicFramePr>
        <p:xfrm>
          <a:off x="1936699" y="5143976"/>
          <a:ext cx="8128000" cy="1478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5335729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632491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Power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263.3 </a:t>
                      </a:r>
                      <a:r>
                        <a:rPr lang="en-US" altLang="zh-TW" dirty="0" err="1"/>
                        <a:t>uW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3930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DC</a:t>
                      </a:r>
                      <a:r>
                        <a:rPr lang="en-US" altLang="zh-TW" baseline="0" dirty="0"/>
                        <a:t> gain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65 dB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2413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GBW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152 MHz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6740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PM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53°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5251710"/>
                  </a:ext>
                </a:extLst>
              </a:tr>
            </a:tbl>
          </a:graphicData>
        </a:graphic>
      </p:graphicFrame>
      <p:sp>
        <p:nvSpPr>
          <p:cNvPr id="10" name="投影片編號版面配置區 9">
            <a:extLst>
              <a:ext uri="{FF2B5EF4-FFF2-40B4-BE49-F238E27FC236}">
                <a16:creationId xmlns:a16="http://schemas.microsoft.com/office/drawing/2014/main" id="{F38D0B96-E3AA-431E-BF9A-4BE123796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76B2E-AA36-4A0E-BDB4-73BA2062F877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6885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8B15D3-18DC-4A10-BB75-8281A2D76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Simulation circuit diagram 2 ( with R)</a:t>
            </a:r>
            <a:endParaRPr lang="zh-TW" altLang="en-US" dirty="0"/>
          </a:p>
        </p:txBody>
      </p:sp>
      <p:pic>
        <p:nvPicPr>
          <p:cNvPr id="6" name="內容版面配置區 5" descr="一張含有 文字, 室內, 電子用品, 螢幕擷取畫面 的圖片&#10;&#10;自動產生的描述">
            <a:extLst>
              <a:ext uri="{FF2B5EF4-FFF2-40B4-BE49-F238E27FC236}">
                <a16:creationId xmlns:a16="http://schemas.microsoft.com/office/drawing/2014/main" id="{D9515146-151E-4034-879D-1275C151B8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2" t="29228" r="9625" b="28907"/>
          <a:stretch/>
        </p:blipFill>
        <p:spPr>
          <a:xfrm>
            <a:off x="239233" y="1828800"/>
            <a:ext cx="11811000" cy="4858940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31320EE-13D9-417C-B18D-442663949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76B2E-AA36-4A0E-BDB4-73BA2062F877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2579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37E179-69AE-42A4-A201-713554B90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6" name="內容版面配置區 5" descr="一張含有 文字, 室內, 螢幕擷取畫面, 黑色 的圖片&#10;&#10;自動產生的描述">
            <a:extLst>
              <a:ext uri="{FF2B5EF4-FFF2-40B4-BE49-F238E27FC236}">
                <a16:creationId xmlns:a16="http://schemas.microsoft.com/office/drawing/2014/main" id="{A76C9A0C-157C-4CE1-AE34-8FC9E588EF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88" t="26775" r="8409" b="15091"/>
          <a:stretch/>
        </p:blipFill>
        <p:spPr>
          <a:xfrm>
            <a:off x="424447" y="136525"/>
            <a:ext cx="11150600" cy="4863401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F068F47-824E-4A72-B1E6-836CDE767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76B2E-AA36-4A0E-BDB4-73BA2062F877}" type="slidenum">
              <a:rPr lang="zh-TW" altLang="en-US" smtClean="0"/>
              <a:t>6</a:t>
            </a:fld>
            <a:endParaRPr lang="zh-TW" altLang="en-US"/>
          </a:p>
        </p:txBody>
      </p:sp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2FC4786E-0FAE-4866-B5DE-EE76956B6D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8972895"/>
              </p:ext>
            </p:extLst>
          </p:nvPr>
        </p:nvGraphicFramePr>
        <p:xfrm>
          <a:off x="838200" y="5123767"/>
          <a:ext cx="4719435" cy="11567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356320">
                  <a:extLst>
                    <a:ext uri="{9D8B030D-6E8A-4147-A177-3AD203B41FA5}">
                      <a16:colId xmlns:a16="http://schemas.microsoft.com/office/drawing/2014/main" val="3977910369"/>
                    </a:ext>
                  </a:extLst>
                </a:gridCol>
                <a:gridCol w="3363115">
                  <a:extLst>
                    <a:ext uri="{9D8B030D-6E8A-4147-A177-3AD203B41FA5}">
                      <a16:colId xmlns:a16="http://schemas.microsoft.com/office/drawing/2014/main" val="1503811710"/>
                    </a:ext>
                  </a:extLst>
                </a:gridCol>
              </a:tblGrid>
              <a:tr h="425240">
                <a:tc>
                  <a:txBody>
                    <a:bodyPr/>
                    <a:lstStyle/>
                    <a:p>
                      <a:r>
                        <a:rPr lang="en-US" altLang="zh-TW" dirty="0"/>
                        <a:t>component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Value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815460"/>
                  </a:ext>
                </a:extLst>
              </a:tr>
              <a:tr h="359739">
                <a:tc>
                  <a:txBody>
                    <a:bodyPr/>
                    <a:lstStyle/>
                    <a:p>
                      <a:r>
                        <a:rPr lang="en-US" altLang="zh-TW" dirty="0"/>
                        <a:t>Cc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200fF / 200fF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9334991"/>
                  </a:ext>
                </a:extLst>
              </a:tr>
              <a:tr h="359739">
                <a:tc>
                  <a:txBody>
                    <a:bodyPr/>
                    <a:lstStyle/>
                    <a:p>
                      <a:r>
                        <a:rPr lang="en-US" altLang="zh-TW" dirty="0"/>
                        <a:t>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5K</a:t>
                      </a:r>
                      <a:r>
                        <a:rPr lang="el-GR" altLang="zh-TW" dirty="0"/>
                        <a:t>Ω</a:t>
                      </a:r>
                      <a:r>
                        <a:rPr lang="en-US" altLang="zh-TW" dirty="0"/>
                        <a:t>/5K</a:t>
                      </a:r>
                      <a:r>
                        <a:rPr lang="el-GR" altLang="zh-TW" dirty="0"/>
                        <a:t>Ω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0393231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E9785CBE-FF3F-4223-9554-FE131563EF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539839"/>
              </p:ext>
            </p:extLst>
          </p:nvPr>
        </p:nvGraphicFramePr>
        <p:xfrm>
          <a:off x="5860871" y="5176265"/>
          <a:ext cx="4307533" cy="1478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50268">
                  <a:extLst>
                    <a:ext uri="{9D8B030D-6E8A-4147-A177-3AD203B41FA5}">
                      <a16:colId xmlns:a16="http://schemas.microsoft.com/office/drawing/2014/main" val="3533572933"/>
                    </a:ext>
                  </a:extLst>
                </a:gridCol>
                <a:gridCol w="3357265">
                  <a:extLst>
                    <a:ext uri="{9D8B030D-6E8A-4147-A177-3AD203B41FA5}">
                      <a16:colId xmlns:a16="http://schemas.microsoft.com/office/drawing/2014/main" val="25632491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Power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263.3 </a:t>
                      </a:r>
                      <a:r>
                        <a:rPr lang="en-US" altLang="zh-TW" dirty="0" err="1"/>
                        <a:t>uW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3930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DC</a:t>
                      </a:r>
                      <a:r>
                        <a:rPr lang="en-US" altLang="zh-TW" baseline="0" dirty="0"/>
                        <a:t> gain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62 dB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2413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GBW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123MHz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6740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PM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65°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5251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9105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C9649D-1608-47DE-A8CB-4E7CF7A51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573" y="3596463"/>
            <a:ext cx="10515600" cy="1325563"/>
          </a:xfrm>
        </p:spPr>
        <p:txBody>
          <a:bodyPr/>
          <a:lstStyle/>
          <a:p>
            <a:r>
              <a:rPr lang="en-US" altLang="zh-TW" dirty="0"/>
              <a:t>The end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78BBE1A-20AC-4296-8AD6-72848457B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76B2E-AA36-4A0E-BDB4-73BA2062F877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04103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150</Words>
  <Application>Microsoft Office PowerPoint</Application>
  <PresentationFormat>寬螢幕</PresentationFormat>
  <Paragraphs>77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2" baseType="lpstr">
      <vt:lpstr>標楷體</vt:lpstr>
      <vt:lpstr>Arial</vt:lpstr>
      <vt:lpstr>Calibri</vt:lpstr>
      <vt:lpstr>Calibri Light</vt:lpstr>
      <vt:lpstr>Office 佈景主題</vt:lpstr>
      <vt:lpstr>12/10第六組專題報告</vt:lpstr>
      <vt:lpstr>Simulation circuit diagram 1 (without R)</vt:lpstr>
      <vt:lpstr>Transistor size</vt:lpstr>
      <vt:lpstr>PowerPoint 簡報</vt:lpstr>
      <vt:lpstr>Simulation circuit diagram 2 ( with R)</vt:lpstr>
      <vt:lpstr>PowerPoint 簡報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Katherine Yu</dc:creator>
  <cp:lastModifiedBy>Katherine Yu</cp:lastModifiedBy>
  <cp:revision>26</cp:revision>
  <dcterms:created xsi:type="dcterms:W3CDTF">2020-12-10T03:39:55Z</dcterms:created>
  <dcterms:modified xsi:type="dcterms:W3CDTF">2020-12-10T10:22:13Z</dcterms:modified>
</cp:coreProperties>
</file>