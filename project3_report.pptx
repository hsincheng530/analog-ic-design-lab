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1" r:id="rId3"/>
    <p:sldId id="270" r:id="rId4"/>
    <p:sldId id="257" r:id="rId5"/>
    <p:sldId id="258" r:id="rId6"/>
    <p:sldId id="259" r:id="rId7"/>
    <p:sldId id="260" r:id="rId8"/>
    <p:sldId id="269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4" d="100"/>
          <a:sy n="104" d="100"/>
        </p:scale>
        <p:origin x="-424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BE0D0-2F77-4B55-9826-BC0B3589DD56}" type="datetimeFigureOut">
              <a:rPr lang="en-US" smtClean="0"/>
              <a:t>1/7/2021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239D46-88EB-4B99-806E-D60A9AD4E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99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39D46-88EB-4B99-806E-D60A9AD4E67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19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CD849-0776-4005-AF9F-EA00360F51E1}" type="datetime1">
              <a:rPr lang="zh-TW" altLang="en-US" smtClean="0"/>
              <a:t>2021/1/7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9C0F-0A7A-479A-A5A4-29BD58250C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2162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2AE2-AD99-4192-B833-95EA6D621ABA}" type="datetime1">
              <a:rPr lang="zh-TW" altLang="en-US" smtClean="0"/>
              <a:t>2021/1/7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9C0F-0A7A-479A-A5A4-29BD58250C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823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ED61-C9A3-4819-98BC-DC6AF3C9A250}" type="datetime1">
              <a:rPr lang="zh-TW" altLang="en-US" smtClean="0"/>
              <a:t>2021/1/7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9C0F-0A7A-479A-A5A4-29BD58250C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9807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13951-C4D7-47DD-94E5-938CE6B31AE7}" type="datetime1">
              <a:rPr lang="zh-TW" altLang="en-US" smtClean="0"/>
              <a:t>2021/1/7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9C0F-0A7A-479A-A5A4-29BD58250C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7560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BA8B4-812E-4053-90E8-EF8C1DD995A5}" type="datetime1">
              <a:rPr lang="zh-TW" altLang="en-US" smtClean="0"/>
              <a:t>2021/1/7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9C0F-0A7A-479A-A5A4-29BD58250C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7055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96305-C50D-44E3-BE9C-36B810DFB8B9}" type="datetime1">
              <a:rPr lang="zh-TW" altLang="en-US" smtClean="0"/>
              <a:t>2021/1/7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9C0F-0A7A-479A-A5A4-29BD58250C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6307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5F3BA-14F7-4962-9324-F68DF6C2EED9}" type="datetime1">
              <a:rPr lang="zh-TW" altLang="en-US" smtClean="0"/>
              <a:t>2021/1/7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9C0F-0A7A-479A-A5A4-29BD58250C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7737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EE16-C033-404D-AE2A-79E49E3AF25F}" type="datetime1">
              <a:rPr lang="zh-TW" altLang="en-US" smtClean="0"/>
              <a:t>2021/1/7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9C0F-0A7A-479A-A5A4-29BD58250C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5004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5129-4867-4984-9D56-67E0C6B1D427}" type="datetime1">
              <a:rPr lang="zh-TW" altLang="en-US" smtClean="0"/>
              <a:t>2021/1/7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9C0F-0A7A-479A-A5A4-29BD58250C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7815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EA15-7722-469F-A5AF-A69FB0C6EACD}" type="datetime1">
              <a:rPr lang="zh-TW" altLang="en-US" smtClean="0"/>
              <a:t>2021/1/7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9C0F-0A7A-479A-A5A4-29BD58250C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7844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0485-8DE4-44A8-AB23-BA86655904F4}" type="datetime1">
              <a:rPr lang="zh-TW" altLang="en-US" smtClean="0"/>
              <a:t>2021/1/7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9C0F-0A7A-479A-A5A4-29BD58250C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73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4FE21-6BE0-4950-B245-D33F76667977}" type="datetime1">
              <a:rPr lang="zh-TW" altLang="en-US" smtClean="0"/>
              <a:t>2021/1/7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59C0F-0A7A-479A-A5A4-29BD58250C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4781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4" name="Freeform: Shape 8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6" name="Freeform: Shape 8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53D0BD33-855B-4E4A-B549-4E14451777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zh-TW" altLang="en-US" sz="7200">
                <a:latin typeface="標楷體" panose="03000509000000000000" pitchFamily="65" charset="-120"/>
                <a:ea typeface="標楷體" panose="03000509000000000000" pitchFamily="65" charset="-120"/>
              </a:rPr>
              <a:t>第六組專題報告</a:t>
            </a: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551B107B-87E9-4BE6-97CE-D388D11657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電機三 余欣澄、陳思穎、蔡汶玲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443BD-6828-4D70-8202-309F0624E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9019" y="6356350"/>
            <a:ext cx="126881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5659C0F-0A7A-479A-A5A4-29BD58250CED}" type="slidenum">
              <a:rPr lang="zh-TW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</a:t>
            </a:fld>
            <a:endParaRPr lang="zh-TW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524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B478A7-34C8-46EA-ABB2-419BE6164F57}"/>
              </a:ext>
            </a:extLst>
          </p:cNvPr>
          <p:cNvSpPr txBox="1"/>
          <p:nvPr/>
        </p:nvSpPr>
        <p:spPr>
          <a:xfrm>
            <a:off x="901690" y="405575"/>
            <a:ext cx="6430414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Current-shunt CMOTA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26032" y="1067264"/>
            <a:ext cx="1021458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BC60C8-1B7B-465F-9A0C-D183AFA4A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78" y="2091095"/>
            <a:ext cx="10996709" cy="42062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EFCDB-2719-4347-BCF2-F8F72F8CA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5659C0F-0A7A-479A-A5A4-29BD58250CED}" type="slidenum"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altLang="zh-TW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952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D34FA56-0A0B-493F-9D33-58FCE7EC8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9C0F-0A7A-479A-A5A4-29BD58250CED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CCE6717-1B73-4335-8135-68F451D09E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5" t="19456" r="2477" b="54077"/>
          <a:stretch/>
        </p:blipFill>
        <p:spPr>
          <a:xfrm>
            <a:off x="196789" y="294685"/>
            <a:ext cx="6749925" cy="251382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790B9B3-7B07-4DDA-B53B-F256AE1833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5" t="53894" r="2477" b="5441"/>
          <a:stretch/>
        </p:blipFill>
        <p:spPr>
          <a:xfrm>
            <a:off x="3666931" y="2808514"/>
            <a:ext cx="6749926" cy="386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819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>
            <a:extLst>
              <a:ext uri="{FF2B5EF4-FFF2-40B4-BE49-F238E27FC236}">
                <a16:creationId xmlns:a16="http://schemas.microsoft.com/office/drawing/2014/main" id="{CE3E702B-35CA-40A2-AEE3-2F0D52F998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473" r="41438"/>
          <a:stretch/>
        </p:blipFill>
        <p:spPr>
          <a:xfrm>
            <a:off x="137131" y="812170"/>
            <a:ext cx="1590785" cy="31264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4A0BF5-1D77-4A30-B7E2-3E101B189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758" y="1466907"/>
            <a:ext cx="5862042" cy="3694085"/>
          </a:xfrm>
          <a:prstGeom prst="rect">
            <a:avLst/>
          </a:prstGeom>
        </p:spPr>
      </p:pic>
      <p:sp>
        <p:nvSpPr>
          <p:cNvPr id="16" name="TextBox 17">
            <a:extLst>
              <a:ext uri="{FF2B5EF4-FFF2-40B4-BE49-F238E27FC236}">
                <a16:creationId xmlns:a16="http://schemas.microsoft.com/office/drawing/2014/main" id="{45A1C9BC-DFCD-4BC8-94DF-00E022BE52E1}"/>
              </a:ext>
            </a:extLst>
          </p:cNvPr>
          <p:cNvSpPr txBox="1"/>
          <p:nvPr/>
        </p:nvSpPr>
        <p:spPr>
          <a:xfrm>
            <a:off x="740815" y="673665"/>
            <a:ext cx="10796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Q1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W=5u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L=180n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04DD32-C8F1-4CB5-9668-EFEBF66E5CAD}"/>
              </a:ext>
            </a:extLst>
          </p:cNvPr>
          <p:cNvSpPr txBox="1"/>
          <p:nvPr/>
        </p:nvSpPr>
        <p:spPr>
          <a:xfrm>
            <a:off x="712935" y="2895986"/>
            <a:ext cx="1295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Idc</a:t>
            </a:r>
            <a:r>
              <a:rPr lang="en-US" b="1" dirty="0">
                <a:solidFill>
                  <a:srgbClr val="FF0000"/>
                </a:solidFill>
              </a:rPr>
              <a:t>=85uA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D4B603-579F-4560-931D-D3C029D62DA7}"/>
              </a:ext>
            </a:extLst>
          </p:cNvPr>
          <p:cNvSpPr/>
          <p:nvPr/>
        </p:nvSpPr>
        <p:spPr>
          <a:xfrm>
            <a:off x="1233346" y="6069085"/>
            <a:ext cx="991385" cy="2473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E59A8364-2498-4CDF-B6EC-DDEF1F8D41EC}"/>
              </a:ext>
            </a:extLst>
          </p:cNvPr>
          <p:cNvSpPr txBox="1"/>
          <p:nvPr/>
        </p:nvSpPr>
        <p:spPr>
          <a:xfrm>
            <a:off x="3110517" y="726152"/>
            <a:ext cx="10796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Q2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W=5u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L=180n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A67458DE-CD50-416A-A60A-466156737062}"/>
              </a:ext>
            </a:extLst>
          </p:cNvPr>
          <p:cNvSpPr txBox="1"/>
          <p:nvPr/>
        </p:nvSpPr>
        <p:spPr>
          <a:xfrm>
            <a:off x="5066242" y="766533"/>
            <a:ext cx="10796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Q7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W=26.2u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L=2.8u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A0A4F4B8-44EA-4D89-A602-16F1B662AEE8}"/>
              </a:ext>
            </a:extLst>
          </p:cNvPr>
          <p:cNvSpPr txBox="1"/>
          <p:nvPr/>
        </p:nvSpPr>
        <p:spPr>
          <a:xfrm>
            <a:off x="6122750" y="726152"/>
            <a:ext cx="10796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Q8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W=26.2u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L=2.8u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AE5E75FE-9500-465B-9E60-123FB4D1281E}"/>
              </a:ext>
            </a:extLst>
          </p:cNvPr>
          <p:cNvSpPr txBox="1"/>
          <p:nvPr/>
        </p:nvSpPr>
        <p:spPr>
          <a:xfrm>
            <a:off x="2871672" y="2800796"/>
            <a:ext cx="10942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</a:rPr>
              <a:t>Q3     Q4</a:t>
            </a:r>
          </a:p>
          <a:p>
            <a:pPr algn="ctr"/>
            <a:r>
              <a:rPr lang="en-US" sz="1600" b="1" dirty="0">
                <a:solidFill>
                  <a:srgbClr val="FF0000"/>
                </a:solidFill>
              </a:rPr>
              <a:t>W=19u</a:t>
            </a:r>
          </a:p>
          <a:p>
            <a:pPr algn="ctr"/>
            <a:r>
              <a:rPr lang="en-US" sz="1600" b="1" dirty="0">
                <a:solidFill>
                  <a:srgbClr val="FF0000"/>
                </a:solidFill>
              </a:rPr>
              <a:t>L=360n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2D89DA91-EEE5-486E-AF7A-DB94312747F7}"/>
              </a:ext>
            </a:extLst>
          </p:cNvPr>
          <p:cNvSpPr txBox="1"/>
          <p:nvPr/>
        </p:nvSpPr>
        <p:spPr>
          <a:xfrm>
            <a:off x="2572449" y="4949182"/>
            <a:ext cx="10942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Q5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W=800n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L=800n</a:t>
            </a: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A5C2038B-3746-4002-B83E-2EB4379581B9}"/>
              </a:ext>
            </a:extLst>
          </p:cNvPr>
          <p:cNvSpPr txBox="1"/>
          <p:nvPr/>
        </p:nvSpPr>
        <p:spPr>
          <a:xfrm>
            <a:off x="3585507" y="4953239"/>
            <a:ext cx="10942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Q6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W=800n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L=800n</a:t>
            </a: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FD973644-5680-4861-B131-113BA136FF88}"/>
              </a:ext>
            </a:extLst>
          </p:cNvPr>
          <p:cNvSpPr txBox="1"/>
          <p:nvPr/>
        </p:nvSpPr>
        <p:spPr>
          <a:xfrm>
            <a:off x="5321340" y="4999592"/>
            <a:ext cx="10942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Q9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W=2.37u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L=800n</a:t>
            </a: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2D7FA9E6-4C9E-497D-AD65-6F9BC977B585}"/>
              </a:ext>
            </a:extLst>
          </p:cNvPr>
          <p:cNvSpPr txBox="1"/>
          <p:nvPr/>
        </p:nvSpPr>
        <p:spPr>
          <a:xfrm>
            <a:off x="6444493" y="5018751"/>
            <a:ext cx="10942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Q10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W=2.37u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L=800</a:t>
            </a:r>
            <a:r>
              <a:rPr lang="en-US" altLang="zh-CN" sz="1600" b="1" dirty="0">
                <a:solidFill>
                  <a:srgbClr val="FF0000"/>
                </a:solidFill>
              </a:rPr>
              <a:t>n</a:t>
            </a:r>
            <a:endParaRPr lang="en-US" sz="1100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016263"/>
              </p:ext>
            </p:extLst>
          </p:nvPr>
        </p:nvGraphicFramePr>
        <p:xfrm>
          <a:off x="7411786" y="1025871"/>
          <a:ext cx="4627815" cy="4023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542605">
                  <a:extLst>
                    <a:ext uri="{9D8B030D-6E8A-4147-A177-3AD203B41FA5}">
                      <a16:colId xmlns:a16="http://schemas.microsoft.com/office/drawing/2014/main" val="70779554"/>
                    </a:ext>
                  </a:extLst>
                </a:gridCol>
                <a:gridCol w="1542605">
                  <a:extLst>
                    <a:ext uri="{9D8B030D-6E8A-4147-A177-3AD203B41FA5}">
                      <a16:colId xmlns:a16="http://schemas.microsoft.com/office/drawing/2014/main" val="4169150215"/>
                    </a:ext>
                  </a:extLst>
                </a:gridCol>
                <a:gridCol w="1542605">
                  <a:extLst>
                    <a:ext uri="{9D8B030D-6E8A-4147-A177-3AD203B41FA5}">
                      <a16:colId xmlns:a16="http://schemas.microsoft.com/office/drawing/2014/main" val="2558514231"/>
                    </a:ext>
                  </a:extLst>
                </a:gridCol>
              </a:tblGrid>
              <a:tr h="33582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Transistor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L(m)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W(m)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655511"/>
                  </a:ext>
                </a:extLst>
              </a:tr>
              <a:tr h="33582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806684"/>
                  </a:ext>
                </a:extLst>
              </a:tr>
              <a:tr h="33582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742141"/>
                  </a:ext>
                </a:extLst>
              </a:tr>
              <a:tr h="33582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360n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19u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569340"/>
                  </a:ext>
                </a:extLst>
              </a:tr>
              <a:tr h="33582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360n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19u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143213"/>
                  </a:ext>
                </a:extLst>
              </a:tr>
              <a:tr h="33582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800n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800n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52718"/>
                  </a:ext>
                </a:extLst>
              </a:tr>
              <a:tr h="33582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800n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800n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8280"/>
                  </a:ext>
                </a:extLst>
              </a:tr>
              <a:tr h="33582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2.8u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26.2u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944587"/>
                  </a:ext>
                </a:extLst>
              </a:tr>
              <a:tr h="33582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2.8u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26.2u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322955"/>
                  </a:ext>
                </a:extLst>
              </a:tr>
              <a:tr h="33582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800n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2.37u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653796"/>
                  </a:ext>
                </a:extLst>
              </a:tr>
              <a:tr h="33582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800n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2.37u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620545"/>
                  </a:ext>
                </a:extLst>
              </a:tr>
            </a:tbl>
          </a:graphicData>
        </a:graphic>
      </p:graphicFrame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3F62C77C-CAA6-43A7-A007-842C3DA8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9C0F-0A7A-479A-A5A4-29BD58250CED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BDE151A-5792-4A93-AE3D-14A068E16462}"/>
              </a:ext>
            </a:extLst>
          </p:cNvPr>
          <p:cNvSpPr txBox="1"/>
          <p:nvPr/>
        </p:nvSpPr>
        <p:spPr>
          <a:xfrm>
            <a:off x="1330797" y="4194948"/>
            <a:ext cx="923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33uA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9E273D5-3F31-4631-A6BC-D937A29E7983}"/>
              </a:ext>
            </a:extLst>
          </p:cNvPr>
          <p:cNvSpPr txBox="1"/>
          <p:nvPr/>
        </p:nvSpPr>
        <p:spPr>
          <a:xfrm>
            <a:off x="4578779" y="3988039"/>
            <a:ext cx="923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33uA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089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795291"/>
              </p:ext>
            </p:extLst>
          </p:nvPr>
        </p:nvGraphicFramePr>
        <p:xfrm>
          <a:off x="2032000" y="4082626"/>
          <a:ext cx="8128000" cy="25958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5031135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17101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Parameters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63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DC gain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55.34dB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012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52.2°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280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GBW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167.6MHz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038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Power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208.1uW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474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First stage gain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18.53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405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Second </a:t>
                      </a:r>
                      <a:r>
                        <a:rPr lang="en-US" altLang="zh-TW"/>
                        <a:t>stage gain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36.81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64625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C6EE5B5-A6B1-499E-9ECB-36D73D07B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714" y="264160"/>
            <a:ext cx="9138893" cy="364236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73EC5-98BA-4112-AA3B-487A372E1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9C0F-0A7A-479A-A5A4-29BD58250CE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8913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3">
            <a:extLst>
              <a:ext uri="{FF2B5EF4-FFF2-40B4-BE49-F238E27FC236}">
                <a16:creationId xmlns:a16="http://schemas.microsoft.com/office/drawing/2014/main" id="{4C5E989F-3F11-4DD2-B216-C2657F77A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170870"/>
              </p:ext>
            </p:extLst>
          </p:nvPr>
        </p:nvGraphicFramePr>
        <p:xfrm>
          <a:off x="411480" y="2973492"/>
          <a:ext cx="11369040" cy="1483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58240">
                  <a:extLst>
                    <a:ext uri="{9D8B030D-6E8A-4147-A177-3AD203B41FA5}">
                      <a16:colId xmlns:a16="http://schemas.microsoft.com/office/drawing/2014/main" val="2350311356"/>
                    </a:ext>
                  </a:extLst>
                </a:gridCol>
                <a:gridCol w="1209040">
                  <a:extLst>
                    <a:ext uri="{9D8B030D-6E8A-4147-A177-3AD203B41FA5}">
                      <a16:colId xmlns:a16="http://schemas.microsoft.com/office/drawing/2014/main" val="817101005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4039699751"/>
                    </a:ext>
                  </a:extLst>
                </a:gridCol>
                <a:gridCol w="1391920">
                  <a:extLst>
                    <a:ext uri="{9D8B030D-6E8A-4147-A177-3AD203B41FA5}">
                      <a16:colId xmlns:a16="http://schemas.microsoft.com/office/drawing/2014/main" val="2370931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115834756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3420253582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3169274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aI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DC G</a:t>
                      </a:r>
                      <a:r>
                        <a:rPr lang="en-US" altLang="zh-CN" dirty="0"/>
                        <a:t>ain (dB)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GBW (MHz)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Power (W)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Size of PMOS</a:t>
                      </a:r>
                      <a:r>
                        <a:rPr lang="zh-CN" altLang="en-US" sz="1600" dirty="0"/>
                        <a:t>（</a:t>
                      </a:r>
                      <a:r>
                        <a:rPr lang="en-US" altLang="zh-CN" sz="1600" dirty="0"/>
                        <a:t>second stage</a:t>
                      </a:r>
                      <a:r>
                        <a:rPr lang="zh-CN" altLang="en-US" sz="1600" dirty="0"/>
                        <a:t>）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63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0.54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21u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48.47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175.6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61.3</a:t>
                      </a:r>
                      <a:r>
                        <a:rPr lang="en-US" altLang="zh-CN" dirty="0"/>
                        <a:t>°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339.9</a:t>
                      </a:r>
                      <a:r>
                        <a:rPr lang="en-US" altLang="zh-CN" dirty="0"/>
                        <a:t>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76.1u/2.8u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07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0.85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33u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55.35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167.6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52.2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°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208.1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u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26.2u/2.8u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012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0.96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37u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62.06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140.9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39.4</a:t>
                      </a:r>
                      <a:r>
                        <a:rPr lang="en-US" altLang="zh-CN" dirty="0"/>
                        <a:t>°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161.6</a:t>
                      </a:r>
                      <a:r>
                        <a:rPr lang="en-US" altLang="zh-CN" dirty="0"/>
                        <a:t>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8.58u/2.8u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28013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BB2FA5E-E9E7-4676-993F-7F7026E361B4}"/>
              </a:ext>
            </a:extLst>
          </p:cNvPr>
          <p:cNvSpPr txBox="1"/>
          <p:nvPr/>
        </p:nvSpPr>
        <p:spPr>
          <a:xfrm>
            <a:off x="411480" y="406400"/>
            <a:ext cx="293624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u="sng"/>
              <a:t>Different a</a:t>
            </a:r>
          </a:p>
          <a:p>
            <a:endParaRPr lang="en-US" sz="4400" b="1">
              <a:latin typeface="+mj-lt"/>
            </a:endParaRPr>
          </a:p>
          <a:p>
            <a:r>
              <a:rPr lang="en-US" sz="2000" b="1">
                <a:latin typeface="+mj-lt"/>
              </a:rPr>
              <a:t>N= 2.9625</a:t>
            </a:r>
          </a:p>
          <a:p>
            <a:r>
              <a:rPr lang="en-US" sz="2000" b="1">
                <a:latin typeface="+mj-lt"/>
              </a:rPr>
              <a:t>2I= 77.3uA</a:t>
            </a:r>
          </a:p>
          <a:p>
            <a:r>
              <a:rPr lang="en-US" sz="2000" b="1">
                <a:latin typeface="+mj-lt"/>
              </a:rPr>
              <a:t>I= 38.65uA</a:t>
            </a:r>
            <a:endParaRPr lang="en-US" sz="2000" b="1" dirty="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3AFB1-2A4E-4FF7-939C-549156208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9C0F-0A7A-479A-A5A4-29BD58250CED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4708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CD18D-5D14-4DD3-A9D8-2AAE9571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385445"/>
            <a:ext cx="10515600" cy="1325563"/>
          </a:xfrm>
        </p:spPr>
        <p:txBody>
          <a:bodyPr/>
          <a:lstStyle/>
          <a:p>
            <a:r>
              <a:rPr lang="en-US" u="sng" dirty="0">
                <a:latin typeface="+mn-lt"/>
              </a:rPr>
              <a:t>Different N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3405DFC-AA05-42CD-B3C1-10391D45F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448808"/>
              </p:ext>
            </p:extLst>
          </p:nvPr>
        </p:nvGraphicFramePr>
        <p:xfrm>
          <a:off x="350520" y="2313092"/>
          <a:ext cx="11490960" cy="18542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43280">
                  <a:extLst>
                    <a:ext uri="{9D8B030D-6E8A-4147-A177-3AD203B41FA5}">
                      <a16:colId xmlns:a16="http://schemas.microsoft.com/office/drawing/2014/main" val="2350311356"/>
                    </a:ext>
                  </a:extLst>
                </a:gridCol>
                <a:gridCol w="1518751">
                  <a:extLst>
                    <a:ext uri="{9D8B030D-6E8A-4147-A177-3AD203B41FA5}">
                      <a16:colId xmlns:a16="http://schemas.microsoft.com/office/drawing/2014/main" val="4039699751"/>
                    </a:ext>
                  </a:extLst>
                </a:gridCol>
                <a:gridCol w="1578647">
                  <a:extLst>
                    <a:ext uri="{9D8B030D-6E8A-4147-A177-3AD203B41FA5}">
                      <a16:colId xmlns:a16="http://schemas.microsoft.com/office/drawing/2014/main" val="23709312"/>
                    </a:ext>
                  </a:extLst>
                </a:gridCol>
                <a:gridCol w="717682">
                  <a:extLst>
                    <a:ext uri="{9D8B030D-6E8A-4147-A177-3AD203B41FA5}">
                      <a16:colId xmlns:a16="http://schemas.microsoft.com/office/drawing/2014/main" val="2115834756"/>
                    </a:ext>
                  </a:extLst>
                </a:gridCol>
                <a:gridCol w="1239520">
                  <a:extLst>
                    <a:ext uri="{9D8B030D-6E8A-4147-A177-3AD203B41FA5}">
                      <a16:colId xmlns:a16="http://schemas.microsoft.com/office/drawing/2014/main" val="3420253582"/>
                    </a:ext>
                  </a:extLst>
                </a:gridCol>
                <a:gridCol w="2667141">
                  <a:extLst>
                    <a:ext uri="{9D8B030D-6E8A-4147-A177-3AD203B41FA5}">
                      <a16:colId xmlns:a16="http://schemas.microsoft.com/office/drawing/2014/main" val="1105685349"/>
                    </a:ext>
                  </a:extLst>
                </a:gridCol>
                <a:gridCol w="2925939">
                  <a:extLst>
                    <a:ext uri="{9D8B030D-6E8A-4147-A177-3AD203B41FA5}">
                      <a16:colId xmlns:a16="http://schemas.microsoft.com/office/drawing/2014/main" val="3169274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DC G</a:t>
                      </a:r>
                      <a:r>
                        <a:rPr lang="en-US" altLang="zh-CN" dirty="0"/>
                        <a:t>ain (dB)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GBW (MHz)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Power (W)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Size of NMOS</a:t>
                      </a:r>
                      <a:r>
                        <a:rPr lang="zh-CN" altLang="en-US" sz="1600" dirty="0"/>
                        <a:t>（</a:t>
                      </a:r>
                      <a:r>
                        <a:rPr lang="en-US" altLang="zh-CN" sz="1600" dirty="0"/>
                        <a:t>second stage</a:t>
                      </a:r>
                      <a:r>
                        <a:rPr lang="zh-CN" altLang="en-US" sz="1600" dirty="0"/>
                        <a:t>）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Size of PMOS</a:t>
                      </a:r>
                      <a:r>
                        <a:rPr lang="zh-CN" altLang="en-US" sz="1600" dirty="0"/>
                        <a:t>（</a:t>
                      </a:r>
                      <a:r>
                        <a:rPr lang="en-US" altLang="zh-CN" sz="1600" dirty="0"/>
                        <a:t>second stage</a:t>
                      </a:r>
                      <a:r>
                        <a:rPr lang="zh-CN" altLang="en-US" sz="1600" dirty="0"/>
                        <a:t>）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63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55.39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98.73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69.1</a:t>
                      </a:r>
                      <a:r>
                        <a:rPr lang="en-US" altLang="zh-CN" dirty="0"/>
                        <a:t>°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172.148</a:t>
                      </a:r>
                      <a:r>
                        <a:rPr lang="en-US" altLang="zh-CN" dirty="0"/>
                        <a:t>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1.2u/800n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12.58u/2.8u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07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2.9625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55.35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167.6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52.2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°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208.1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u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2.37u/800n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26.2u/2.8u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012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55.30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239.3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34</a:t>
                      </a:r>
                      <a:r>
                        <a:rPr lang="en-US" altLang="zh-CN" dirty="0"/>
                        <a:t>°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283.9</a:t>
                      </a:r>
                      <a:r>
                        <a:rPr lang="en-US" altLang="zh-CN" dirty="0"/>
                        <a:t>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4.8u/800n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54.88u/2.8u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280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55.28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278.6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23.2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384.4u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8/800n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92.92/2.8u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615256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5A117-932C-47E3-97FF-8165B6086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9C0F-0A7A-479A-A5A4-29BD58250CED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FF7A0-53CB-4388-A19E-F1C48E0CDFB9}"/>
              </a:ext>
            </a:extLst>
          </p:cNvPr>
          <p:cNvSpPr txBox="1"/>
          <p:nvPr/>
        </p:nvSpPr>
        <p:spPr>
          <a:xfrm>
            <a:off x="350520" y="4470400"/>
            <a:ext cx="55300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Av2=gmN3*</a:t>
            </a:r>
            <a:r>
              <a:rPr lang="en-US" sz="2400" dirty="0" err="1"/>
              <a:t>ro</a:t>
            </a:r>
            <a:endParaRPr lang="en-US" sz="2400" dirty="0"/>
          </a:p>
          <a:p>
            <a:r>
              <a:rPr lang="en-US" sz="2400" dirty="0"/>
              <a:t>       =sqrt(2*un*Cox*W/L*Id)*(VA*L/Id)</a:t>
            </a:r>
          </a:p>
          <a:p>
            <a:r>
              <a:rPr lang="en-US" sz="2400" dirty="0"/>
              <a:t>       =sqrt(2*un*Cox*W/L)*1/sqrt(Id)*VA*L</a:t>
            </a:r>
          </a:p>
        </p:txBody>
      </p:sp>
    </p:spTree>
    <p:extLst>
      <p:ext uri="{BB962C8B-B14F-4D97-AF65-F5344CB8AC3E}">
        <p14:creationId xmlns:p14="http://schemas.microsoft.com/office/powerpoint/2010/main" val="1237427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Fanily閃亮星大賞】天機可以洩漏－奴才志銘與狸貓爆卦黃阿瑪的後宮日常| Fanily 粉絲玩樂">
            <a:extLst>
              <a:ext uri="{FF2B5EF4-FFF2-40B4-BE49-F238E27FC236}">
                <a16:creationId xmlns:a16="http://schemas.microsoft.com/office/drawing/2014/main" id="{8800924D-6418-4A38-B6DE-39B0B116BA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58" r="23872" b="632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 3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9E05064-773A-4323-8C58-B38D52B9E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800" b="1"/>
              <a:t>Thank You!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436FA8-FF32-4474-A2AA-36C1F5AA3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E5DA2B78-DE21-4775-A0A6-913F04E7E08E}" type="slidenum">
              <a:rPr lang="en-US" altLang="zh-TW" smtClean="0">
                <a:solidFill>
                  <a:schemeClr val="tx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8</a:t>
            </a:fld>
            <a:endParaRPr lang="en-US" altLang="zh-TW">
              <a:solidFill>
                <a:schemeClr val="tx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72050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343</Words>
  <Application>Microsoft Office PowerPoint</Application>
  <PresentationFormat>寬螢幕</PresentationFormat>
  <Paragraphs>162</Paragraphs>
  <Slides>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標楷體</vt:lpstr>
      <vt:lpstr>Arial</vt:lpstr>
      <vt:lpstr>Calibri</vt:lpstr>
      <vt:lpstr>Calibri Light</vt:lpstr>
      <vt:lpstr>Office 佈景主題</vt:lpstr>
      <vt:lpstr>第六組專題報告</vt:lpstr>
      <vt:lpstr>PowerPoint 簡報</vt:lpstr>
      <vt:lpstr>PowerPoint 簡報</vt:lpstr>
      <vt:lpstr>PowerPoint 簡報</vt:lpstr>
      <vt:lpstr>PowerPoint 簡報</vt:lpstr>
      <vt:lpstr>PowerPoint 簡報</vt:lpstr>
      <vt:lpstr>Different 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第六組專題報告</dc:title>
  <dc:creator>Katherine Yu</dc:creator>
  <cp:lastModifiedBy>Katherine Yu</cp:lastModifiedBy>
  <cp:revision>2</cp:revision>
  <dcterms:created xsi:type="dcterms:W3CDTF">2021-01-07T09:45:16Z</dcterms:created>
  <dcterms:modified xsi:type="dcterms:W3CDTF">2021-01-07T12:04:01Z</dcterms:modified>
</cp:coreProperties>
</file>