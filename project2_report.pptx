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66" r:id="rId3"/>
    <p:sldId id="267" r:id="rId4"/>
    <p:sldId id="261" r:id="rId5"/>
    <p:sldId id="257" r:id="rId6"/>
    <p:sldId id="258" r:id="rId7"/>
    <p:sldId id="259" r:id="rId8"/>
    <p:sldId id="270" r:id="rId9"/>
    <p:sldId id="263" r:id="rId10"/>
    <p:sldId id="264" r:id="rId11"/>
    <p:sldId id="271" r:id="rId12"/>
    <p:sldId id="260" r:id="rId13"/>
    <p:sldId id="262" r:id="rId14"/>
    <p:sldId id="268" r:id="rId15"/>
    <p:sldId id="269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4" autoAdjust="0"/>
    <p:restoredTop sz="94660"/>
  </p:normalViewPr>
  <p:slideViewPr>
    <p:cSldViewPr snapToGrid="0">
      <p:cViewPr>
        <p:scale>
          <a:sx n="92" d="100"/>
          <a:sy n="92" d="100"/>
        </p:scale>
        <p:origin x="4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00CAD-F823-42FB-B18E-BA51B37AB960}" type="datetimeFigureOut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CA8873-E678-467B-A0DD-5FA9274B25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2557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13A2D-978B-4BCC-BE50-686465A10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A7553D-A41F-4241-9776-70135FB3B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EB1C8E-7E6F-41FB-84E4-FAC61AE6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2D68-5F9E-477C-8263-F3233BD0099E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762FCD-8A32-441C-ACE3-319366D7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804EBB-D66B-45F3-84B6-CE89C2A5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87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91C4E-0A4A-4C1B-9D70-F4FA8327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A0C03F-7442-4EDF-860A-34E50AB5D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C55B54-91ED-49B4-87C0-88E66ECF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C582-39C6-41F7-A450-60803866173E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BC98D8-42B0-4148-9266-3867E78A2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80C8BA-9AFA-4E5B-B63C-C5BEEE32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061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0F027-4F3C-493C-9C10-06124907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9500A9-CFAE-4375-91BB-1933F1535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028CDB-3AE2-4E52-95C8-A230C022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642F-DCA7-4BF6-B31B-B3F70D7AD7AC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D07B4A-42A2-40B7-AB46-7E09C6D2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2A2941-E244-4A47-8F9B-6016FBAC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200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EC087D-EE0C-4624-9210-20BA795D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DA8E9D-F154-4D6C-9EDD-022C49B49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B63741F-D824-494B-948D-DCC30B107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C3120E-6223-414F-8B48-2831530F5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524C-3ADE-4841-AA63-595B3413F77A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B890DC-2310-4744-A6B6-3C2006A20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18B6B1-B869-415B-BB58-EA48F4B5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181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A70038-3F93-4E51-8ACA-A48AE248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BF9BF9-A3F7-4A8D-90FD-AAF8D709E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062CE8-24A6-421A-AFFC-248D54CED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57B51B-6BAE-45B3-A51C-7FDAC3655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9D643ED-DDBB-4171-BECD-C342EDACE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7E42B30-94BE-4010-A458-4DE004518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F406-5893-4A79-A292-6E5DADF0CA62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C52DA7F-1CA7-4953-847C-68888112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445DB28-5F3E-4A3B-A942-BC476079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9846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79611-E7A1-4F68-8EC5-4EE5662F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034EB99-8A6B-4FA4-941D-83B6137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AB4D-2780-4CAD-90B3-BE06F23AC361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3B8EE97-3A0D-40A5-8C8B-E7AC391F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755865-D21A-4849-B956-523FD2B0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44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B7658E5-B391-4D32-A38E-BFBC4687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08EEE-56A5-4BD4-93EC-264CE0AEDEB6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73C8E00-2DE6-46D8-99AA-52BF27C1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B79063-3ECC-469C-A4E0-8F58A002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349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ACCFA8-FFBE-4A7A-A732-B3E274D12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BFDC70-733F-4CA6-83CF-2BE9EA80F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2FFD4C6-B08B-46EB-8FC0-091E71D8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E3CC444-1FB2-4BD4-B4B0-1A08B5F96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32-AC01-4696-89EF-032873C57BC2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E7CCEB-0321-459E-9C72-9A0A4608E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32E325-891A-4D91-974F-82980E77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6528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49CFAD-703A-42E2-910C-D5E51391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6609DB1-8EFD-48C1-B7CD-CD4D340E7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502A0F-E7C7-42C3-BD5A-2875ED496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C66263-3BD2-4A88-AEE2-F7BE711A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712D0-DDD0-48BC-947E-6FFE09E5C3AD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153A0B-726A-48DB-AE6B-9628146F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F5A4FC-F320-4804-86F8-0288F59A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71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295A68-423B-4FCC-A53F-8DCFDA81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685CFFB-81BB-41E3-8543-46331C4AA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B91068-430A-4D8D-986B-D30AD9040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53BDC-51F0-462C-9D8D-E06BA02B85C1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B55D7D-3DBE-4884-84DE-8C55D188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B3F624-4676-46CA-BEBE-A8FB418E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6169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7BCA36F-4785-49C0-A420-439CBCA20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16AF4FA-F551-4F3B-B3EA-FB1E37F22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8AC9C1-C95F-4B91-80C2-6CD7A7AD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B5AF-1432-4605-B626-2800D2CF8384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F4196F-41AA-414C-95A1-E927625F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70068D-6B50-4CD6-B94B-5AE460B8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108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CA6D4F-6CB1-4BCD-A7B6-8CB4AA67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B7C113-BE7D-4DD2-A389-660FFAF5F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622C8E-6B13-4C2E-8A80-9CAECA9D6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179D2-AFEF-4EAD-B79B-C612020EF2CD}" type="datetime1">
              <a:rPr lang="zh-TW" altLang="en-US" smtClean="0"/>
              <a:t>2020/12/24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FA6961-00DA-4F85-A597-170F0B495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986D06-A777-4FF3-B818-5BDF56300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2B78-DE21-4775-A0A6-913F04E7E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95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6FF095-EA87-4431-8616-E1E3DDC465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800" dirty="0">
                <a:latin typeface="標楷體" panose="03000509000000000000" pitchFamily="65" charset="-120"/>
                <a:ea typeface="標楷體" panose="03000509000000000000" pitchFamily="65" charset="-120"/>
              </a:rPr>
              <a:t>第六組專題報告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F3740D3-366C-424D-A7CD-572987DB4B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電機三 余欣澄、陳思穎、蔡汶玲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E30D27-CE24-47A5-8D61-78F69CF7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55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95AFA3-56A8-45FB-BC80-E29A804F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Change OTA into CMOTA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FF12ED-BA0B-4588-8022-23A6FBD7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039DA50-C6BE-4CC3-9416-0C18C155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4" name="內容版面配置區 5" descr="一張含有 文字, 室內, 螢幕擷取畫面, 電子用品 的圖片&#10;&#10;自動產生的描述">
            <a:extLst>
              <a:ext uri="{FF2B5EF4-FFF2-40B4-BE49-F238E27FC236}">
                <a16:creationId xmlns:a16="http://schemas.microsoft.com/office/drawing/2014/main" id="{A3FBC623-6911-4106-B5D9-2F2D1CAB5E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1" t="27296" r="9802" b="17463"/>
          <a:stretch/>
        </p:blipFill>
        <p:spPr>
          <a:xfrm>
            <a:off x="695699" y="1364673"/>
            <a:ext cx="10928263" cy="495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9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>
            <a:extLst>
              <a:ext uri="{FF2B5EF4-FFF2-40B4-BE49-F238E27FC236}">
                <a16:creationId xmlns:a16="http://schemas.microsoft.com/office/drawing/2014/main" id="{12485964-8B0E-431B-BA49-AD962E03BB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73" r="41438"/>
          <a:stretch/>
        </p:blipFill>
        <p:spPr>
          <a:xfrm>
            <a:off x="166021" y="1268501"/>
            <a:ext cx="1590785" cy="31264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ED0C9CE-927E-4956-B824-22DBB49323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9" r="6718"/>
          <a:stretch/>
        </p:blipFill>
        <p:spPr>
          <a:xfrm>
            <a:off x="1321356" y="1649413"/>
            <a:ext cx="5896862" cy="3559173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2419EBDC-8D23-40F6-9AC8-32F5327D9F21}"/>
              </a:ext>
            </a:extLst>
          </p:cNvPr>
          <p:cNvSpPr txBox="1"/>
          <p:nvPr/>
        </p:nvSpPr>
        <p:spPr>
          <a:xfrm>
            <a:off x="2351652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Q1</a:t>
            </a:r>
          </a:p>
          <a:p>
            <a:r>
              <a:rPr lang="en-US" b="1" dirty="0">
                <a:solidFill>
                  <a:srgbClr val="FF0000"/>
                </a:solidFill>
              </a:rPr>
              <a:t>W=20u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572E0525-8244-4C7A-AAAA-7FCC43D8EBD3}"/>
              </a:ext>
            </a:extLst>
          </p:cNvPr>
          <p:cNvSpPr txBox="1"/>
          <p:nvPr/>
        </p:nvSpPr>
        <p:spPr>
          <a:xfrm>
            <a:off x="3985842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Q2</a:t>
            </a:r>
          </a:p>
          <a:p>
            <a:r>
              <a:rPr lang="en-US" b="1" dirty="0">
                <a:solidFill>
                  <a:srgbClr val="FF0000"/>
                </a:solidFill>
              </a:rPr>
              <a:t>W=20u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4C39F1E9-AA46-44AB-9466-1B71E5322398}"/>
              </a:ext>
            </a:extLst>
          </p:cNvPr>
          <p:cNvSpPr txBox="1"/>
          <p:nvPr/>
        </p:nvSpPr>
        <p:spPr>
          <a:xfrm>
            <a:off x="5363885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Q3</a:t>
            </a:r>
          </a:p>
          <a:p>
            <a:r>
              <a:rPr lang="en-US" b="1" dirty="0">
                <a:solidFill>
                  <a:srgbClr val="FF0000"/>
                </a:solidFill>
              </a:rPr>
              <a:t>W=20u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377FBE5F-0E4F-4CA6-A5B3-223C437F9E02}"/>
              </a:ext>
            </a:extLst>
          </p:cNvPr>
          <p:cNvSpPr txBox="1"/>
          <p:nvPr/>
        </p:nvSpPr>
        <p:spPr>
          <a:xfrm>
            <a:off x="2183927" y="2850294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Q4     Q5</a:t>
            </a:r>
          </a:p>
          <a:p>
            <a:r>
              <a:rPr lang="en-US" b="1" dirty="0">
                <a:solidFill>
                  <a:srgbClr val="FF0000"/>
                </a:solidFill>
              </a:rPr>
              <a:t>W=10u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BC8E886E-3843-4ABC-95AA-432C89976FC9}"/>
              </a:ext>
            </a:extLst>
          </p:cNvPr>
          <p:cNvSpPr txBox="1"/>
          <p:nvPr/>
        </p:nvSpPr>
        <p:spPr>
          <a:xfrm>
            <a:off x="1762784" y="499868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Q6</a:t>
            </a:r>
          </a:p>
          <a:p>
            <a:r>
              <a:rPr lang="en-US" b="1" dirty="0">
                <a:solidFill>
                  <a:srgbClr val="FF0000"/>
                </a:solidFill>
              </a:rPr>
              <a:t>W=5u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ADC4BBCA-8B78-4FA6-A7D2-B14D97BA79D2}"/>
              </a:ext>
            </a:extLst>
          </p:cNvPr>
          <p:cNvSpPr txBox="1"/>
          <p:nvPr/>
        </p:nvSpPr>
        <p:spPr>
          <a:xfrm>
            <a:off x="2775842" y="5002737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Q7</a:t>
            </a:r>
          </a:p>
          <a:p>
            <a:r>
              <a:rPr lang="en-US" b="1" dirty="0">
                <a:solidFill>
                  <a:srgbClr val="FF0000"/>
                </a:solidFill>
              </a:rPr>
              <a:t>W=5u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CA3A62CC-02E3-495D-8338-5092182289F5}"/>
              </a:ext>
            </a:extLst>
          </p:cNvPr>
          <p:cNvSpPr txBox="1"/>
          <p:nvPr/>
        </p:nvSpPr>
        <p:spPr>
          <a:xfrm>
            <a:off x="4056739" y="504909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Q8</a:t>
            </a:r>
          </a:p>
          <a:p>
            <a:r>
              <a:rPr lang="en-US" b="1" dirty="0">
                <a:solidFill>
                  <a:srgbClr val="FF0000"/>
                </a:solidFill>
              </a:rPr>
              <a:t>W=10u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F9252B06-82E6-4E6B-BC70-D756A349EEC6}"/>
              </a:ext>
            </a:extLst>
          </p:cNvPr>
          <p:cNvSpPr txBox="1"/>
          <p:nvPr/>
        </p:nvSpPr>
        <p:spPr>
          <a:xfrm>
            <a:off x="5269721" y="504909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Q9</a:t>
            </a:r>
          </a:p>
          <a:p>
            <a:r>
              <a:rPr lang="en-US" b="1" dirty="0">
                <a:solidFill>
                  <a:srgbClr val="FF0000"/>
                </a:solidFill>
              </a:rPr>
              <a:t>W=10u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3D75A57C-001B-4986-82BF-79B176C2969A}"/>
              </a:ext>
            </a:extLst>
          </p:cNvPr>
          <p:cNvSpPr txBox="1"/>
          <p:nvPr/>
        </p:nvSpPr>
        <p:spPr>
          <a:xfrm>
            <a:off x="677120" y="1183691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Q10</a:t>
            </a:r>
          </a:p>
          <a:p>
            <a:r>
              <a:rPr lang="en-US" b="1" dirty="0">
                <a:solidFill>
                  <a:srgbClr val="FF0000"/>
                </a:solidFill>
              </a:rPr>
              <a:t>W=80u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4C39DF39-E246-429D-B04C-7E8E4E0C1FCA}"/>
              </a:ext>
            </a:extLst>
          </p:cNvPr>
          <p:cNvSpPr txBox="1"/>
          <p:nvPr/>
        </p:nvSpPr>
        <p:spPr>
          <a:xfrm>
            <a:off x="6577462" y="4394909"/>
            <a:ext cx="77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=1pF</a:t>
            </a: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E9D51420-6EEB-4009-A3B2-5AD4FFC0B575}"/>
              </a:ext>
            </a:extLst>
          </p:cNvPr>
          <p:cNvSpPr txBox="1"/>
          <p:nvPr/>
        </p:nvSpPr>
        <p:spPr>
          <a:xfrm>
            <a:off x="362195" y="2942627"/>
            <a:ext cx="129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Idc</a:t>
            </a:r>
            <a:r>
              <a:rPr lang="en-US" b="1" dirty="0">
                <a:solidFill>
                  <a:srgbClr val="FF0000"/>
                </a:solidFill>
              </a:rPr>
              <a:t>=100uA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8F36EB8-A327-4653-88F8-B4FDEFF2E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591322"/>
              </p:ext>
            </p:extLst>
          </p:nvPr>
        </p:nvGraphicFramePr>
        <p:xfrm>
          <a:off x="7578972" y="2693693"/>
          <a:ext cx="4250833" cy="14706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760">
                  <a:extLst>
                    <a:ext uri="{9D8B030D-6E8A-4147-A177-3AD203B41FA5}">
                      <a16:colId xmlns:a16="http://schemas.microsoft.com/office/drawing/2014/main" val="3533572933"/>
                    </a:ext>
                  </a:extLst>
                </a:gridCol>
                <a:gridCol w="3313073">
                  <a:extLst>
                    <a:ext uri="{9D8B030D-6E8A-4147-A177-3AD203B41FA5}">
                      <a16:colId xmlns:a16="http://schemas.microsoft.com/office/drawing/2014/main" val="2563249115"/>
                    </a:ext>
                  </a:extLst>
                </a:gridCol>
              </a:tblGrid>
              <a:tr h="367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Power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542.63 </a:t>
                      </a:r>
                      <a:r>
                        <a:rPr lang="en-US" altLang="zh-TW" dirty="0" err="1"/>
                        <a:t>uW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30032"/>
                  </a:ext>
                </a:extLst>
              </a:tr>
              <a:tr h="367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DC</a:t>
                      </a:r>
                      <a:r>
                        <a:rPr lang="en-US" altLang="zh-TW" baseline="0" dirty="0"/>
                        <a:t> gain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27.3 dB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413459"/>
                  </a:ext>
                </a:extLst>
              </a:tr>
              <a:tr h="367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GBW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117.36MHz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740103"/>
                  </a:ext>
                </a:extLst>
              </a:tr>
              <a:tr h="367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88°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251710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3E4C1FA6-9562-440E-8683-905A68A92175}"/>
              </a:ext>
            </a:extLst>
          </p:cNvPr>
          <p:cNvSpPr/>
          <p:nvPr/>
        </p:nvSpPr>
        <p:spPr>
          <a:xfrm>
            <a:off x="778442" y="2146022"/>
            <a:ext cx="602673" cy="221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69479CC-602B-4892-8A42-0D8809A1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18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48018E-859A-41DE-9D95-2A21AA8B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u="sng" dirty="0"/>
              <a:t>Design Rules</a:t>
            </a:r>
            <a:endParaRPr lang="zh-TW" alt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54A82F5-3EF4-4733-BC83-9672FFC5E6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Gain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𝑔𝑚𝑝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𝑔𝑚𝑁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gmM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3∗(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ro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ro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b="0" dirty="0"/>
              </a:p>
              <a:p>
                <a:pPr marL="0" indent="0">
                  <a:buNone/>
                </a:pPr>
                <a:r>
                  <a:rPr lang="en-US" altLang="zh-TW" dirty="0"/>
                  <a:t>Pole1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𝑟𝑜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𝑟𝑜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GBW = Gain * pole1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𝑔𝑚𝑃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𝑔𝑚𝑁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𝑔𝑚𝑁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den>
                    </m:f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54A82F5-3EF4-4733-BC83-9672FFC5E6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4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BAAE24-0BD4-4361-B3FB-A1CA1DEE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113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3F7D81-2F45-41E4-8319-3D95BB3E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CMOTA(N=4.27)</a:t>
            </a:r>
            <a:endParaRPr lang="zh-TW" altLang="en-US" dirty="0"/>
          </a:p>
        </p:txBody>
      </p:sp>
      <p:pic>
        <p:nvPicPr>
          <p:cNvPr id="5" name="內容版面配置區 4" descr="一張含有 文字, 電腦, 電子用品, 顯示 的圖片&#10;&#10;自動產生的描述">
            <a:extLst>
              <a:ext uri="{FF2B5EF4-FFF2-40B4-BE49-F238E27FC236}">
                <a16:creationId xmlns:a16="http://schemas.microsoft.com/office/drawing/2014/main" id="{9BCA364A-7D39-4B69-B95E-09A9BA8E7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988542" y="1825625"/>
            <a:ext cx="8214915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A0A069B-10F7-4DBF-9ABA-B4F7B13B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558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5C5196-12FB-48E1-AD1A-FDF2B69CF3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73" r="41438"/>
          <a:stretch/>
        </p:blipFill>
        <p:spPr>
          <a:xfrm>
            <a:off x="166021" y="1268501"/>
            <a:ext cx="1590785" cy="31264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6DE9AB0-8384-4B73-83C8-F286EFBAA8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9" r="6718"/>
          <a:stretch/>
        </p:blipFill>
        <p:spPr>
          <a:xfrm>
            <a:off x="1321356" y="1649413"/>
            <a:ext cx="5896862" cy="3559173"/>
          </a:xfrm>
          <a:prstGeom prst="rect">
            <a:avLst/>
          </a:prstGeom>
        </p:spPr>
      </p:pic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EC828572-8E50-452F-A8A5-74343F3C3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608845"/>
              </p:ext>
            </p:extLst>
          </p:nvPr>
        </p:nvGraphicFramePr>
        <p:xfrm>
          <a:off x="8056418" y="1270442"/>
          <a:ext cx="3948320" cy="424031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05346">
                  <a:extLst>
                    <a:ext uri="{9D8B030D-6E8A-4147-A177-3AD203B41FA5}">
                      <a16:colId xmlns:a16="http://schemas.microsoft.com/office/drawing/2014/main" val="1481456591"/>
                    </a:ext>
                  </a:extLst>
                </a:gridCol>
                <a:gridCol w="1041508">
                  <a:extLst>
                    <a:ext uri="{9D8B030D-6E8A-4147-A177-3AD203B41FA5}">
                      <a16:colId xmlns:a16="http://schemas.microsoft.com/office/drawing/2014/main" val="3949751772"/>
                    </a:ext>
                  </a:extLst>
                </a:gridCol>
                <a:gridCol w="1701466">
                  <a:extLst>
                    <a:ext uri="{9D8B030D-6E8A-4147-A177-3AD203B41FA5}">
                      <a16:colId xmlns:a16="http://schemas.microsoft.com/office/drawing/2014/main" val="4126330097"/>
                    </a:ext>
                  </a:extLst>
                </a:gridCol>
              </a:tblGrid>
              <a:tr h="582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Transistor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L(m)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W(m)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819312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809855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26393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181155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9.5u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90269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180n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9.5u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892777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250n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188894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250n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80248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17653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583597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1961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5DF73F-45C9-4A4B-8103-2FC50E7A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10D1F-7A2B-4268-AC6E-806605D26DAE}"/>
              </a:ext>
            </a:extLst>
          </p:cNvPr>
          <p:cNvSpPr txBox="1"/>
          <p:nvPr/>
        </p:nvSpPr>
        <p:spPr>
          <a:xfrm>
            <a:off x="2351652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Q1</a:t>
            </a:r>
          </a:p>
          <a:p>
            <a:r>
              <a:rPr lang="en-US" b="1" dirty="0">
                <a:solidFill>
                  <a:srgbClr val="FF0000"/>
                </a:solidFill>
              </a:rPr>
              <a:t>W=8u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509CB3-C1D1-48DA-AC38-723B1AEE2D37}"/>
              </a:ext>
            </a:extLst>
          </p:cNvPr>
          <p:cNvSpPr txBox="1"/>
          <p:nvPr/>
        </p:nvSpPr>
        <p:spPr>
          <a:xfrm>
            <a:off x="3985842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Q2</a:t>
            </a:r>
          </a:p>
          <a:p>
            <a:r>
              <a:rPr lang="en-US" b="1" dirty="0">
                <a:solidFill>
                  <a:srgbClr val="FF0000"/>
                </a:solidFill>
              </a:rPr>
              <a:t>W=80u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31D9D-C714-4CAA-AAC0-F904363FE303}"/>
              </a:ext>
            </a:extLst>
          </p:cNvPr>
          <p:cNvSpPr txBox="1"/>
          <p:nvPr/>
        </p:nvSpPr>
        <p:spPr>
          <a:xfrm>
            <a:off x="5363885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Q3</a:t>
            </a:r>
          </a:p>
          <a:p>
            <a:r>
              <a:rPr lang="en-US" b="1" dirty="0">
                <a:solidFill>
                  <a:srgbClr val="FF0000"/>
                </a:solidFill>
              </a:rPr>
              <a:t>W=80u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B1A82B-042E-4F12-B79E-CDBDE11D531C}"/>
              </a:ext>
            </a:extLst>
          </p:cNvPr>
          <p:cNvSpPr txBox="1"/>
          <p:nvPr/>
        </p:nvSpPr>
        <p:spPr>
          <a:xfrm>
            <a:off x="2183927" y="2850294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Q4     Q5</a:t>
            </a:r>
          </a:p>
          <a:p>
            <a:r>
              <a:rPr lang="en-US" b="1" dirty="0">
                <a:solidFill>
                  <a:srgbClr val="FF0000"/>
                </a:solidFill>
              </a:rPr>
              <a:t>W=9.5u</a:t>
            </a:r>
          </a:p>
          <a:p>
            <a:r>
              <a:rPr lang="en-US" b="1" dirty="0">
                <a:solidFill>
                  <a:srgbClr val="FF0000"/>
                </a:solidFill>
              </a:rPr>
              <a:t>L=180n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3A9A6-00DC-4594-B48D-58B84BD0B598}"/>
              </a:ext>
            </a:extLst>
          </p:cNvPr>
          <p:cNvSpPr txBox="1"/>
          <p:nvPr/>
        </p:nvSpPr>
        <p:spPr>
          <a:xfrm>
            <a:off x="1762784" y="499868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Q6</a:t>
            </a:r>
          </a:p>
          <a:p>
            <a:r>
              <a:rPr lang="en-US" b="1" dirty="0">
                <a:solidFill>
                  <a:srgbClr val="FF0000"/>
                </a:solidFill>
              </a:rPr>
              <a:t>W=250n</a:t>
            </a:r>
          </a:p>
          <a:p>
            <a:r>
              <a:rPr lang="en-US" b="1" dirty="0">
                <a:solidFill>
                  <a:srgbClr val="FF0000"/>
                </a:solidFill>
              </a:rPr>
              <a:t>L=200n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9894B-A3FB-4BCB-AAF8-F608C026D99D}"/>
              </a:ext>
            </a:extLst>
          </p:cNvPr>
          <p:cNvSpPr txBox="1"/>
          <p:nvPr/>
        </p:nvSpPr>
        <p:spPr>
          <a:xfrm>
            <a:off x="2775842" y="5002737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Q7</a:t>
            </a:r>
          </a:p>
          <a:p>
            <a:r>
              <a:rPr lang="en-US" b="1" dirty="0">
                <a:solidFill>
                  <a:srgbClr val="FF0000"/>
                </a:solidFill>
              </a:rPr>
              <a:t>W=250n</a:t>
            </a:r>
          </a:p>
          <a:p>
            <a:r>
              <a:rPr lang="en-US" b="1" dirty="0">
                <a:solidFill>
                  <a:srgbClr val="FF0000"/>
                </a:solidFill>
              </a:rPr>
              <a:t>L=200n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81D3BC-9F5B-4BDD-BDE1-847F8FABCCFA}"/>
              </a:ext>
            </a:extLst>
          </p:cNvPr>
          <p:cNvSpPr txBox="1"/>
          <p:nvPr/>
        </p:nvSpPr>
        <p:spPr>
          <a:xfrm>
            <a:off x="4056739" y="504909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Q8</a:t>
            </a:r>
          </a:p>
          <a:p>
            <a:r>
              <a:rPr lang="en-US" b="1" dirty="0">
                <a:solidFill>
                  <a:srgbClr val="FF0000"/>
                </a:solidFill>
              </a:rPr>
              <a:t>W=8u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0C8502-1BBC-4641-A92D-C90DF0CAA30C}"/>
              </a:ext>
            </a:extLst>
          </p:cNvPr>
          <p:cNvSpPr txBox="1"/>
          <p:nvPr/>
        </p:nvSpPr>
        <p:spPr>
          <a:xfrm>
            <a:off x="5269721" y="504909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Q9</a:t>
            </a:r>
          </a:p>
          <a:p>
            <a:r>
              <a:rPr lang="en-US" b="1" dirty="0">
                <a:solidFill>
                  <a:srgbClr val="FF0000"/>
                </a:solidFill>
              </a:rPr>
              <a:t>W=8u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E7CA09-FE14-468F-8B5B-B22B74BFFBD5}"/>
              </a:ext>
            </a:extLst>
          </p:cNvPr>
          <p:cNvSpPr txBox="1"/>
          <p:nvPr/>
        </p:nvSpPr>
        <p:spPr>
          <a:xfrm>
            <a:off x="677120" y="1183691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Q10</a:t>
            </a:r>
          </a:p>
          <a:p>
            <a:r>
              <a:rPr lang="en-US" b="1" dirty="0">
                <a:solidFill>
                  <a:srgbClr val="FF0000"/>
                </a:solidFill>
              </a:rPr>
              <a:t>W=20u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FD57A-2FE9-4338-81A3-A0750281485A}"/>
              </a:ext>
            </a:extLst>
          </p:cNvPr>
          <p:cNvSpPr txBox="1"/>
          <p:nvPr/>
        </p:nvSpPr>
        <p:spPr>
          <a:xfrm>
            <a:off x="6577462" y="4394909"/>
            <a:ext cx="77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=1pF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2DCB1-AE0C-40AD-A894-7DA6F7F66C5A}"/>
              </a:ext>
            </a:extLst>
          </p:cNvPr>
          <p:cNvSpPr txBox="1"/>
          <p:nvPr/>
        </p:nvSpPr>
        <p:spPr>
          <a:xfrm>
            <a:off x="362195" y="2942627"/>
            <a:ext cx="129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Idc</a:t>
            </a:r>
            <a:r>
              <a:rPr lang="en-US" b="1" dirty="0">
                <a:solidFill>
                  <a:srgbClr val="FF0000"/>
                </a:solidFill>
              </a:rPr>
              <a:t>=100uA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EB8619-FA0C-4E45-8135-C96DE04B69B3}"/>
              </a:ext>
            </a:extLst>
          </p:cNvPr>
          <p:cNvSpPr txBox="1"/>
          <p:nvPr/>
        </p:nvSpPr>
        <p:spPr>
          <a:xfrm>
            <a:off x="364908" y="369567"/>
            <a:ext cx="170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u="sng" dirty="0"/>
              <a:t>N=4.27</a:t>
            </a:r>
            <a:endParaRPr lang="zh-TW" altLang="en-US" sz="2400" u="sng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488B27-5A07-4005-A64B-C2AE7FF808F0}"/>
              </a:ext>
            </a:extLst>
          </p:cNvPr>
          <p:cNvSpPr/>
          <p:nvPr/>
        </p:nvSpPr>
        <p:spPr>
          <a:xfrm>
            <a:off x="778442" y="2146022"/>
            <a:ext cx="602673" cy="221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4768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C39F86-A512-4FB0-8B44-F0CA1EC4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7D07409-8F51-48F8-9EB2-AF251AB1EA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" t="16884" r="597" b="2819"/>
          <a:stretch/>
        </p:blipFill>
        <p:spPr>
          <a:xfrm>
            <a:off x="120121" y="101880"/>
            <a:ext cx="11951758" cy="51382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E5453E0-65C3-440E-909E-1C262B4D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87D7582-6676-45AC-9DA5-EE1FC9E61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896725"/>
              </p:ext>
            </p:extLst>
          </p:nvPr>
        </p:nvGraphicFramePr>
        <p:xfrm>
          <a:off x="4073236" y="5293079"/>
          <a:ext cx="4257761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9288">
                  <a:extLst>
                    <a:ext uri="{9D8B030D-6E8A-4147-A177-3AD203B41FA5}">
                      <a16:colId xmlns:a16="http://schemas.microsoft.com/office/drawing/2014/main" val="3533572933"/>
                    </a:ext>
                  </a:extLst>
                </a:gridCol>
                <a:gridCol w="3318473">
                  <a:extLst>
                    <a:ext uri="{9D8B030D-6E8A-4147-A177-3AD203B41FA5}">
                      <a16:colId xmlns:a16="http://schemas.microsoft.com/office/drawing/2014/main" val="2563249115"/>
                    </a:ext>
                  </a:extLst>
                </a:gridCol>
              </a:tblGrid>
              <a:tr h="358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Power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389.5 </a:t>
                      </a:r>
                      <a:r>
                        <a:rPr lang="en-US" altLang="zh-TW" dirty="0" err="1"/>
                        <a:t>uW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30032"/>
                  </a:ext>
                </a:extLst>
              </a:tr>
              <a:tr h="363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DC</a:t>
                      </a:r>
                      <a:r>
                        <a:rPr lang="en-US" altLang="zh-TW" baseline="0" dirty="0"/>
                        <a:t> gain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44.431 dB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413459"/>
                  </a:ext>
                </a:extLst>
              </a:tr>
              <a:tr h="363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GBW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129.975MHz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740103"/>
                  </a:ext>
                </a:extLst>
              </a:tr>
              <a:tr h="36370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52°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251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37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D59BC-7D82-456A-8953-9E01B833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23416"/>
            <a:ext cx="10515600" cy="1325563"/>
          </a:xfrm>
        </p:spPr>
        <p:txBody>
          <a:bodyPr/>
          <a:lstStyle/>
          <a:p>
            <a:r>
              <a:rPr lang="en-US" altLang="zh-TW" u="sng" dirty="0"/>
              <a:t>Decrease</a:t>
            </a:r>
            <a:r>
              <a:rPr lang="zh-TW" altLang="en-US" u="sng" dirty="0"/>
              <a:t> </a:t>
            </a:r>
            <a:r>
              <a:rPr lang="en-US" altLang="zh-TW" u="sng" dirty="0"/>
              <a:t>N</a:t>
            </a:r>
            <a:endParaRPr lang="zh-TW" altLang="en-US" u="sng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747FBB-76A3-453A-8707-49BFFFB87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14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5C5196-12FB-48E1-AD1A-FDF2B69CF3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73" r="41438"/>
          <a:stretch/>
        </p:blipFill>
        <p:spPr>
          <a:xfrm>
            <a:off x="166021" y="1268501"/>
            <a:ext cx="1590785" cy="31264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6DE9AB0-8384-4B73-83C8-F286EFBAA8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9" r="6718"/>
          <a:stretch/>
        </p:blipFill>
        <p:spPr>
          <a:xfrm>
            <a:off x="1321356" y="1649413"/>
            <a:ext cx="5896862" cy="3559173"/>
          </a:xfrm>
          <a:prstGeom prst="rect">
            <a:avLst/>
          </a:prstGeom>
        </p:spPr>
      </p:pic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EC828572-8E50-452F-A8A5-74343F3C3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711739"/>
              </p:ext>
            </p:extLst>
          </p:nvPr>
        </p:nvGraphicFramePr>
        <p:xfrm>
          <a:off x="8056418" y="1270442"/>
          <a:ext cx="3948320" cy="424031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05346">
                  <a:extLst>
                    <a:ext uri="{9D8B030D-6E8A-4147-A177-3AD203B41FA5}">
                      <a16:colId xmlns:a16="http://schemas.microsoft.com/office/drawing/2014/main" val="1481456591"/>
                    </a:ext>
                  </a:extLst>
                </a:gridCol>
                <a:gridCol w="1041508">
                  <a:extLst>
                    <a:ext uri="{9D8B030D-6E8A-4147-A177-3AD203B41FA5}">
                      <a16:colId xmlns:a16="http://schemas.microsoft.com/office/drawing/2014/main" val="3949751772"/>
                    </a:ext>
                  </a:extLst>
                </a:gridCol>
                <a:gridCol w="1701466">
                  <a:extLst>
                    <a:ext uri="{9D8B030D-6E8A-4147-A177-3AD203B41FA5}">
                      <a16:colId xmlns:a16="http://schemas.microsoft.com/office/drawing/2014/main" val="4126330097"/>
                    </a:ext>
                  </a:extLst>
                </a:gridCol>
              </a:tblGrid>
              <a:tr h="582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Transistor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L(m)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W(m)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819312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809855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40u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26393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40u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181155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9.5u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90269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180n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9.5u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892777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250n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188894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250n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80248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4u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17653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4u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583597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1961"/>
                  </a:ext>
                </a:extLst>
              </a:tr>
            </a:tbl>
          </a:graphicData>
        </a:graphic>
      </p:graphicFrame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A524364-104F-4687-B255-943639F9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10D1F-7A2B-4268-AC6E-806605D26DAE}"/>
              </a:ext>
            </a:extLst>
          </p:cNvPr>
          <p:cNvSpPr txBox="1"/>
          <p:nvPr/>
        </p:nvSpPr>
        <p:spPr>
          <a:xfrm>
            <a:off x="2351652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Q1</a:t>
            </a:r>
          </a:p>
          <a:p>
            <a:r>
              <a:rPr lang="en-US" b="1" dirty="0">
                <a:solidFill>
                  <a:srgbClr val="FF0000"/>
                </a:solidFill>
              </a:rPr>
              <a:t>W=8u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509CB3-C1D1-48DA-AC38-723B1AEE2D37}"/>
              </a:ext>
            </a:extLst>
          </p:cNvPr>
          <p:cNvSpPr txBox="1"/>
          <p:nvPr/>
        </p:nvSpPr>
        <p:spPr>
          <a:xfrm>
            <a:off x="3985842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Q2</a:t>
            </a:r>
          </a:p>
          <a:p>
            <a:r>
              <a:rPr lang="en-US" b="1" dirty="0">
                <a:solidFill>
                  <a:srgbClr val="0070C0"/>
                </a:solidFill>
              </a:rPr>
              <a:t>W=40u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31D9D-C714-4CAA-AAC0-F904363FE303}"/>
              </a:ext>
            </a:extLst>
          </p:cNvPr>
          <p:cNvSpPr txBox="1"/>
          <p:nvPr/>
        </p:nvSpPr>
        <p:spPr>
          <a:xfrm>
            <a:off x="5363885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Q3</a:t>
            </a:r>
          </a:p>
          <a:p>
            <a:r>
              <a:rPr lang="en-US" b="1" dirty="0">
                <a:solidFill>
                  <a:srgbClr val="0070C0"/>
                </a:solidFill>
              </a:rPr>
              <a:t>W=40u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B1A82B-042E-4F12-B79E-CDBDE11D531C}"/>
              </a:ext>
            </a:extLst>
          </p:cNvPr>
          <p:cNvSpPr txBox="1"/>
          <p:nvPr/>
        </p:nvSpPr>
        <p:spPr>
          <a:xfrm>
            <a:off x="2183927" y="2850294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Q4     Q5</a:t>
            </a:r>
          </a:p>
          <a:p>
            <a:r>
              <a:rPr lang="en-US" b="1" dirty="0">
                <a:solidFill>
                  <a:srgbClr val="FF0000"/>
                </a:solidFill>
              </a:rPr>
              <a:t>W=9.5u</a:t>
            </a:r>
          </a:p>
          <a:p>
            <a:r>
              <a:rPr lang="en-US" b="1" dirty="0">
                <a:solidFill>
                  <a:srgbClr val="FF0000"/>
                </a:solidFill>
              </a:rPr>
              <a:t>L=180n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3A9A6-00DC-4594-B48D-58B84BD0B598}"/>
              </a:ext>
            </a:extLst>
          </p:cNvPr>
          <p:cNvSpPr txBox="1"/>
          <p:nvPr/>
        </p:nvSpPr>
        <p:spPr>
          <a:xfrm>
            <a:off x="1762784" y="499868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Q6</a:t>
            </a:r>
          </a:p>
          <a:p>
            <a:r>
              <a:rPr lang="en-US" b="1" dirty="0">
                <a:solidFill>
                  <a:srgbClr val="FF0000"/>
                </a:solidFill>
              </a:rPr>
              <a:t>W=250n</a:t>
            </a:r>
          </a:p>
          <a:p>
            <a:r>
              <a:rPr lang="en-US" b="1" dirty="0">
                <a:solidFill>
                  <a:srgbClr val="FF0000"/>
                </a:solidFill>
              </a:rPr>
              <a:t>L=200n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9894B-A3FB-4BCB-AAF8-F608C026D99D}"/>
              </a:ext>
            </a:extLst>
          </p:cNvPr>
          <p:cNvSpPr txBox="1"/>
          <p:nvPr/>
        </p:nvSpPr>
        <p:spPr>
          <a:xfrm>
            <a:off x="2775842" y="5002737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Q7</a:t>
            </a:r>
          </a:p>
          <a:p>
            <a:r>
              <a:rPr lang="en-US" b="1" dirty="0">
                <a:solidFill>
                  <a:srgbClr val="FF0000"/>
                </a:solidFill>
              </a:rPr>
              <a:t>W=250n</a:t>
            </a:r>
          </a:p>
          <a:p>
            <a:r>
              <a:rPr lang="en-US" b="1" dirty="0">
                <a:solidFill>
                  <a:srgbClr val="FF0000"/>
                </a:solidFill>
              </a:rPr>
              <a:t>L=200n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81D3BC-9F5B-4BDD-BDE1-847F8FABCCFA}"/>
              </a:ext>
            </a:extLst>
          </p:cNvPr>
          <p:cNvSpPr txBox="1"/>
          <p:nvPr/>
        </p:nvSpPr>
        <p:spPr>
          <a:xfrm>
            <a:off x="4056739" y="504909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Q8</a:t>
            </a:r>
          </a:p>
          <a:p>
            <a:r>
              <a:rPr lang="en-US" b="1" dirty="0">
                <a:solidFill>
                  <a:srgbClr val="0070C0"/>
                </a:solidFill>
              </a:rPr>
              <a:t>W=4u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0C8502-1BBC-4641-A92D-C90DF0CAA30C}"/>
              </a:ext>
            </a:extLst>
          </p:cNvPr>
          <p:cNvSpPr txBox="1"/>
          <p:nvPr/>
        </p:nvSpPr>
        <p:spPr>
          <a:xfrm>
            <a:off x="5269721" y="504909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Q9</a:t>
            </a:r>
          </a:p>
          <a:p>
            <a:r>
              <a:rPr lang="en-US" b="1" dirty="0">
                <a:solidFill>
                  <a:srgbClr val="0070C0"/>
                </a:solidFill>
              </a:rPr>
              <a:t>W=4u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E7CA09-FE14-468F-8B5B-B22B74BFFBD5}"/>
              </a:ext>
            </a:extLst>
          </p:cNvPr>
          <p:cNvSpPr txBox="1"/>
          <p:nvPr/>
        </p:nvSpPr>
        <p:spPr>
          <a:xfrm>
            <a:off x="677120" y="1183691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Q10</a:t>
            </a:r>
          </a:p>
          <a:p>
            <a:r>
              <a:rPr lang="en-US" b="1" dirty="0">
                <a:solidFill>
                  <a:srgbClr val="FF0000"/>
                </a:solidFill>
              </a:rPr>
              <a:t>W=20u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FD57A-2FE9-4338-81A3-A0750281485A}"/>
              </a:ext>
            </a:extLst>
          </p:cNvPr>
          <p:cNvSpPr txBox="1"/>
          <p:nvPr/>
        </p:nvSpPr>
        <p:spPr>
          <a:xfrm>
            <a:off x="6577462" y="4394909"/>
            <a:ext cx="77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=1pF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2DCB1-AE0C-40AD-A894-7DA6F7F66C5A}"/>
              </a:ext>
            </a:extLst>
          </p:cNvPr>
          <p:cNvSpPr txBox="1"/>
          <p:nvPr/>
        </p:nvSpPr>
        <p:spPr>
          <a:xfrm>
            <a:off x="362195" y="2942627"/>
            <a:ext cx="129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Idc</a:t>
            </a:r>
            <a:r>
              <a:rPr lang="en-US" b="1" dirty="0">
                <a:solidFill>
                  <a:srgbClr val="FF0000"/>
                </a:solidFill>
              </a:rPr>
              <a:t>=100uA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EB8619-FA0C-4E45-8135-C96DE04B69B3}"/>
              </a:ext>
            </a:extLst>
          </p:cNvPr>
          <p:cNvSpPr txBox="1"/>
          <p:nvPr/>
        </p:nvSpPr>
        <p:spPr>
          <a:xfrm>
            <a:off x="364908" y="369567"/>
            <a:ext cx="170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u="sng" dirty="0"/>
              <a:t>N=2.135</a:t>
            </a:r>
            <a:endParaRPr lang="zh-TW" altLang="en-US" sz="2400" u="sng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ACD6F1-FC0D-4392-BC66-A9D3F7841971}"/>
              </a:ext>
            </a:extLst>
          </p:cNvPr>
          <p:cNvSpPr/>
          <p:nvPr/>
        </p:nvSpPr>
        <p:spPr>
          <a:xfrm>
            <a:off x="778442" y="2146022"/>
            <a:ext cx="602673" cy="221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077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6ADCBA-03A3-49FD-8397-5B1075A8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 descr="一張含有 文字, 室內, 螢幕擷取畫面, 黑色 的圖片&#10;&#10;自動產生的描述">
            <a:extLst>
              <a:ext uri="{FF2B5EF4-FFF2-40B4-BE49-F238E27FC236}">
                <a16:creationId xmlns:a16="http://schemas.microsoft.com/office/drawing/2014/main" id="{76DDB444-1121-4B64-AE48-E57B49A8B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2" t="26659" r="7912" b="14914"/>
          <a:stretch/>
        </p:blipFill>
        <p:spPr>
          <a:xfrm>
            <a:off x="212075" y="101880"/>
            <a:ext cx="11767850" cy="5104966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E4D642E-1119-40B4-B354-D5C0D621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BF204D0-02CC-4E3A-87A5-B8E6D8FA9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375007"/>
              </p:ext>
            </p:extLst>
          </p:nvPr>
        </p:nvGraphicFramePr>
        <p:xfrm>
          <a:off x="4023464" y="5277840"/>
          <a:ext cx="4307533" cy="147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268">
                  <a:extLst>
                    <a:ext uri="{9D8B030D-6E8A-4147-A177-3AD203B41FA5}">
                      <a16:colId xmlns:a16="http://schemas.microsoft.com/office/drawing/2014/main" val="3533572933"/>
                    </a:ext>
                  </a:extLst>
                </a:gridCol>
                <a:gridCol w="3357265">
                  <a:extLst>
                    <a:ext uri="{9D8B030D-6E8A-4147-A177-3AD203B41FA5}">
                      <a16:colId xmlns:a16="http://schemas.microsoft.com/office/drawing/2014/main" val="2563249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Power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227 </a:t>
                      </a:r>
                      <a:r>
                        <a:rPr lang="en-US" altLang="zh-TW" dirty="0" err="1"/>
                        <a:t>uW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3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DC</a:t>
                      </a:r>
                      <a:r>
                        <a:rPr lang="en-US" altLang="zh-TW" baseline="0" dirty="0"/>
                        <a:t> gain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44.39 dB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41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GBW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69.9MHz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74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77°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251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346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D59BC-7D82-456A-8953-9E01B833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23416"/>
            <a:ext cx="10515600" cy="1325563"/>
          </a:xfrm>
        </p:spPr>
        <p:txBody>
          <a:bodyPr/>
          <a:lstStyle/>
          <a:p>
            <a:r>
              <a:rPr lang="en-US" altLang="zh-TW" u="sng" dirty="0"/>
              <a:t>Increase</a:t>
            </a:r>
            <a:r>
              <a:rPr lang="zh-TW" altLang="en-US" u="sng" dirty="0"/>
              <a:t> </a:t>
            </a:r>
            <a:r>
              <a:rPr lang="en-US" altLang="zh-TW" u="sng" dirty="0"/>
              <a:t>N</a:t>
            </a:r>
            <a:endParaRPr lang="zh-TW" altLang="en-US" u="sng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747FBB-76A3-453A-8707-49BFFFB87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5224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797C915-90C8-4733-8418-B25F43E594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9" r="6718"/>
          <a:stretch/>
        </p:blipFill>
        <p:spPr>
          <a:xfrm>
            <a:off x="1321356" y="1649413"/>
            <a:ext cx="5896862" cy="3559173"/>
          </a:xfrm>
          <a:prstGeom prst="rect">
            <a:avLst/>
          </a:prstGeom>
        </p:spPr>
      </p:pic>
      <p:graphicFrame>
        <p:nvGraphicFramePr>
          <p:cNvPr id="5" name="內容版面配置區 5">
            <a:extLst>
              <a:ext uri="{FF2B5EF4-FFF2-40B4-BE49-F238E27FC236}">
                <a16:creationId xmlns:a16="http://schemas.microsoft.com/office/drawing/2014/main" id="{77EE3C62-6609-422F-AE89-8A11A7F78E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1589200"/>
              </p:ext>
            </p:extLst>
          </p:nvPr>
        </p:nvGraphicFramePr>
        <p:xfrm>
          <a:off x="8056418" y="1270442"/>
          <a:ext cx="3948320" cy="424031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05346">
                  <a:extLst>
                    <a:ext uri="{9D8B030D-6E8A-4147-A177-3AD203B41FA5}">
                      <a16:colId xmlns:a16="http://schemas.microsoft.com/office/drawing/2014/main" val="1481456591"/>
                    </a:ext>
                  </a:extLst>
                </a:gridCol>
                <a:gridCol w="1041508">
                  <a:extLst>
                    <a:ext uri="{9D8B030D-6E8A-4147-A177-3AD203B41FA5}">
                      <a16:colId xmlns:a16="http://schemas.microsoft.com/office/drawing/2014/main" val="3949751772"/>
                    </a:ext>
                  </a:extLst>
                </a:gridCol>
                <a:gridCol w="1701466">
                  <a:extLst>
                    <a:ext uri="{9D8B030D-6E8A-4147-A177-3AD203B41FA5}">
                      <a16:colId xmlns:a16="http://schemas.microsoft.com/office/drawing/2014/main" val="4126330097"/>
                    </a:ext>
                  </a:extLst>
                </a:gridCol>
              </a:tblGrid>
              <a:tr h="582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Transistor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L(m)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W(m)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819312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809855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0.75u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26393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0.75u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181155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9.5u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90269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180n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9.5u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892777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250n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188894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250n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80248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16u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17653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1.5u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</a:rPr>
                        <a:t>16u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583597"/>
                  </a:ext>
                </a:extLst>
              </a:tr>
              <a:tr h="33297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360n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1961"/>
                  </a:ext>
                </a:extLst>
              </a:tr>
            </a:tbl>
          </a:graphicData>
        </a:graphic>
      </p:graphicFrame>
      <p:sp>
        <p:nvSpPr>
          <p:cNvPr id="6" name="TextBox 3">
            <a:extLst>
              <a:ext uri="{FF2B5EF4-FFF2-40B4-BE49-F238E27FC236}">
                <a16:creationId xmlns:a16="http://schemas.microsoft.com/office/drawing/2014/main" id="{36AA72A9-6914-4BAF-B6D3-CC058B591D39}"/>
              </a:ext>
            </a:extLst>
          </p:cNvPr>
          <p:cNvSpPr txBox="1"/>
          <p:nvPr/>
        </p:nvSpPr>
        <p:spPr>
          <a:xfrm>
            <a:off x="2351652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Q1</a:t>
            </a:r>
          </a:p>
          <a:p>
            <a:r>
              <a:rPr lang="en-US" b="1" dirty="0">
                <a:solidFill>
                  <a:srgbClr val="FF0000"/>
                </a:solidFill>
              </a:rPr>
              <a:t>W=8u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2BB86574-5C3C-4EC7-8E95-27E8A989438E}"/>
              </a:ext>
            </a:extLst>
          </p:cNvPr>
          <p:cNvSpPr txBox="1"/>
          <p:nvPr/>
        </p:nvSpPr>
        <p:spPr>
          <a:xfrm>
            <a:off x="3985842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Q2</a:t>
            </a:r>
          </a:p>
          <a:p>
            <a:r>
              <a:rPr lang="en-US" b="1" dirty="0">
                <a:solidFill>
                  <a:srgbClr val="FF0000"/>
                </a:solidFill>
              </a:rPr>
              <a:t>W=80u</a:t>
            </a:r>
          </a:p>
          <a:p>
            <a:r>
              <a:rPr lang="en-US" b="1" dirty="0">
                <a:solidFill>
                  <a:srgbClr val="0070C0"/>
                </a:solidFill>
              </a:rPr>
              <a:t>L=0.75u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A31EAFD5-A8F2-45DF-BE1A-BF21B6CD48E5}"/>
              </a:ext>
            </a:extLst>
          </p:cNvPr>
          <p:cNvSpPr txBox="1"/>
          <p:nvPr/>
        </p:nvSpPr>
        <p:spPr>
          <a:xfrm>
            <a:off x="5363885" y="1049970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Q3</a:t>
            </a:r>
          </a:p>
          <a:p>
            <a:r>
              <a:rPr lang="en-US" b="1" dirty="0">
                <a:solidFill>
                  <a:srgbClr val="FF0000"/>
                </a:solidFill>
              </a:rPr>
              <a:t>W=80u</a:t>
            </a:r>
          </a:p>
          <a:p>
            <a:r>
              <a:rPr lang="en-US" b="1" dirty="0">
                <a:solidFill>
                  <a:srgbClr val="0070C0"/>
                </a:solidFill>
              </a:rPr>
              <a:t>L=0.75u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13F74CD-8399-4E62-8C65-304F260AF444}"/>
              </a:ext>
            </a:extLst>
          </p:cNvPr>
          <p:cNvSpPr txBox="1"/>
          <p:nvPr/>
        </p:nvSpPr>
        <p:spPr>
          <a:xfrm>
            <a:off x="2183927" y="2850294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Q4     Q5</a:t>
            </a:r>
          </a:p>
          <a:p>
            <a:r>
              <a:rPr lang="en-US" b="1" dirty="0">
                <a:solidFill>
                  <a:srgbClr val="FF0000"/>
                </a:solidFill>
              </a:rPr>
              <a:t>W=9.5u</a:t>
            </a:r>
          </a:p>
          <a:p>
            <a:r>
              <a:rPr lang="en-US" b="1" dirty="0">
                <a:solidFill>
                  <a:srgbClr val="FF0000"/>
                </a:solidFill>
              </a:rPr>
              <a:t>L=180n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2D1E13DF-B955-482F-A4CA-3AC7F6B39C84}"/>
              </a:ext>
            </a:extLst>
          </p:cNvPr>
          <p:cNvSpPr txBox="1"/>
          <p:nvPr/>
        </p:nvSpPr>
        <p:spPr>
          <a:xfrm>
            <a:off x="1762784" y="499868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Q6</a:t>
            </a:r>
          </a:p>
          <a:p>
            <a:r>
              <a:rPr lang="en-US" b="1" dirty="0">
                <a:solidFill>
                  <a:srgbClr val="FF0000"/>
                </a:solidFill>
              </a:rPr>
              <a:t>W=250n</a:t>
            </a:r>
          </a:p>
          <a:p>
            <a:r>
              <a:rPr lang="en-US" b="1" dirty="0">
                <a:solidFill>
                  <a:srgbClr val="FF0000"/>
                </a:solidFill>
              </a:rPr>
              <a:t>L=200n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B9914518-EC5C-4105-8D15-5B0334CFB0E9}"/>
              </a:ext>
            </a:extLst>
          </p:cNvPr>
          <p:cNvSpPr txBox="1"/>
          <p:nvPr/>
        </p:nvSpPr>
        <p:spPr>
          <a:xfrm>
            <a:off x="2775842" y="5002737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Q7</a:t>
            </a:r>
          </a:p>
          <a:p>
            <a:r>
              <a:rPr lang="en-US" b="1" dirty="0">
                <a:solidFill>
                  <a:srgbClr val="FF0000"/>
                </a:solidFill>
              </a:rPr>
              <a:t>W=250n</a:t>
            </a:r>
          </a:p>
          <a:p>
            <a:r>
              <a:rPr lang="en-US" b="1" dirty="0">
                <a:solidFill>
                  <a:srgbClr val="FF0000"/>
                </a:solidFill>
              </a:rPr>
              <a:t>L=200n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C2DFF727-F70F-4340-94B7-722DE042BF06}"/>
              </a:ext>
            </a:extLst>
          </p:cNvPr>
          <p:cNvSpPr txBox="1"/>
          <p:nvPr/>
        </p:nvSpPr>
        <p:spPr>
          <a:xfrm>
            <a:off x="4056739" y="504909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Q8</a:t>
            </a:r>
          </a:p>
          <a:p>
            <a:r>
              <a:rPr lang="en-US" b="1" dirty="0">
                <a:solidFill>
                  <a:srgbClr val="0070C0"/>
                </a:solidFill>
              </a:rPr>
              <a:t>W=16u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F42AB741-6012-4F6A-A090-B5FCC0043F84}"/>
              </a:ext>
            </a:extLst>
          </p:cNvPr>
          <p:cNvSpPr txBox="1"/>
          <p:nvPr/>
        </p:nvSpPr>
        <p:spPr>
          <a:xfrm>
            <a:off x="5269721" y="5049090"/>
            <a:ext cx="1094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Q9</a:t>
            </a:r>
          </a:p>
          <a:p>
            <a:r>
              <a:rPr lang="en-US" b="1" dirty="0">
                <a:solidFill>
                  <a:srgbClr val="0070C0"/>
                </a:solidFill>
              </a:rPr>
              <a:t>W=16u</a:t>
            </a:r>
          </a:p>
          <a:p>
            <a:r>
              <a:rPr lang="en-US" b="1" dirty="0">
                <a:solidFill>
                  <a:srgbClr val="FF0000"/>
                </a:solidFill>
              </a:rPr>
              <a:t>L=1.5u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E02AA43-5DF5-4437-8651-107CD6EB628C}"/>
              </a:ext>
            </a:extLst>
          </p:cNvPr>
          <p:cNvSpPr txBox="1"/>
          <p:nvPr/>
        </p:nvSpPr>
        <p:spPr>
          <a:xfrm>
            <a:off x="677120" y="1183691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Q10</a:t>
            </a:r>
          </a:p>
          <a:p>
            <a:r>
              <a:rPr lang="en-US" b="1" dirty="0">
                <a:solidFill>
                  <a:srgbClr val="FF0000"/>
                </a:solidFill>
              </a:rPr>
              <a:t>W=20u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33BB3897-2781-4689-A2A5-4D430FD38B48}"/>
              </a:ext>
            </a:extLst>
          </p:cNvPr>
          <p:cNvSpPr txBox="1"/>
          <p:nvPr/>
        </p:nvSpPr>
        <p:spPr>
          <a:xfrm>
            <a:off x="6577462" y="4394909"/>
            <a:ext cx="77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=1pF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A88B803D-2D71-4B4C-92D2-A6BA067C319E}"/>
              </a:ext>
            </a:extLst>
          </p:cNvPr>
          <p:cNvSpPr txBox="1"/>
          <p:nvPr/>
        </p:nvSpPr>
        <p:spPr>
          <a:xfrm>
            <a:off x="362195" y="2942627"/>
            <a:ext cx="129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Idc</a:t>
            </a:r>
            <a:r>
              <a:rPr lang="en-US" b="1" dirty="0">
                <a:solidFill>
                  <a:srgbClr val="FF0000"/>
                </a:solidFill>
              </a:rPr>
              <a:t>=100uA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A33AAE9-DD57-42F5-B285-8F8C6F02767F}"/>
              </a:ext>
            </a:extLst>
          </p:cNvPr>
          <p:cNvSpPr txBox="1"/>
          <p:nvPr/>
        </p:nvSpPr>
        <p:spPr>
          <a:xfrm>
            <a:off x="364908" y="369567"/>
            <a:ext cx="170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u="sng" dirty="0"/>
              <a:t>N=8.53</a:t>
            </a:r>
            <a:endParaRPr lang="zh-TW" altLang="en-US" sz="2400" u="sng" dirty="0"/>
          </a:p>
        </p:txBody>
      </p:sp>
      <p:pic>
        <p:nvPicPr>
          <p:cNvPr id="18" name="Picture 6">
            <a:extLst>
              <a:ext uri="{FF2B5EF4-FFF2-40B4-BE49-F238E27FC236}">
                <a16:creationId xmlns:a16="http://schemas.microsoft.com/office/drawing/2014/main" id="{36557BBD-5EFE-429B-93E6-182BB5B139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473" r="41438"/>
          <a:stretch/>
        </p:blipFill>
        <p:spPr>
          <a:xfrm>
            <a:off x="166021" y="1268501"/>
            <a:ext cx="1590785" cy="3126408"/>
          </a:xfrm>
          <a:prstGeom prst="rect">
            <a:avLst/>
          </a:prstGeom>
        </p:spPr>
      </p:pic>
      <p:sp>
        <p:nvSpPr>
          <p:cNvPr id="19" name="TextBox 17">
            <a:extLst>
              <a:ext uri="{FF2B5EF4-FFF2-40B4-BE49-F238E27FC236}">
                <a16:creationId xmlns:a16="http://schemas.microsoft.com/office/drawing/2014/main" id="{047FA8FA-9993-4D0E-9813-A814BCBB515F}"/>
              </a:ext>
            </a:extLst>
          </p:cNvPr>
          <p:cNvSpPr txBox="1"/>
          <p:nvPr/>
        </p:nvSpPr>
        <p:spPr>
          <a:xfrm>
            <a:off x="677120" y="1183691"/>
            <a:ext cx="107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Q10</a:t>
            </a:r>
          </a:p>
          <a:p>
            <a:r>
              <a:rPr lang="en-US" b="1" dirty="0">
                <a:solidFill>
                  <a:srgbClr val="FF0000"/>
                </a:solidFill>
              </a:rPr>
              <a:t>W=20u</a:t>
            </a:r>
          </a:p>
          <a:p>
            <a:r>
              <a:rPr lang="en-US" b="1" dirty="0">
                <a:solidFill>
                  <a:srgbClr val="FF0000"/>
                </a:solidFill>
              </a:rPr>
              <a:t>L=360n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01D72D-9E24-4C15-8854-F195B0EB011A}"/>
              </a:ext>
            </a:extLst>
          </p:cNvPr>
          <p:cNvSpPr txBox="1"/>
          <p:nvPr/>
        </p:nvSpPr>
        <p:spPr>
          <a:xfrm>
            <a:off x="362195" y="2942627"/>
            <a:ext cx="1295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Idc</a:t>
            </a:r>
            <a:r>
              <a:rPr lang="en-US" b="1" dirty="0">
                <a:solidFill>
                  <a:srgbClr val="FF0000"/>
                </a:solidFill>
              </a:rPr>
              <a:t>=100uA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661168-DB47-4FF1-8836-8C897FE99D9F}"/>
              </a:ext>
            </a:extLst>
          </p:cNvPr>
          <p:cNvSpPr/>
          <p:nvPr/>
        </p:nvSpPr>
        <p:spPr>
          <a:xfrm>
            <a:off x="765421" y="2156428"/>
            <a:ext cx="991385" cy="2473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75D1112-809B-4200-8C2A-31A19357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9548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F27BB-E903-4710-B7C6-9CB7BAB32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 descr="一張含有 文字, 電子用品, 顯示, 螢幕擷取畫面 的圖片&#10;&#10;自動產生的描述">
            <a:extLst>
              <a:ext uri="{FF2B5EF4-FFF2-40B4-BE49-F238E27FC236}">
                <a16:creationId xmlns:a16="http://schemas.microsoft.com/office/drawing/2014/main" id="{F37BB391-39BC-4BB1-BD48-96420F7D1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0"/>
          <a:stretch/>
        </p:blipFill>
        <p:spPr>
          <a:xfrm>
            <a:off x="271901" y="101880"/>
            <a:ext cx="11648197" cy="5095279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E15AC70-7E77-400F-AE51-4403F7E0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CC8380F-A61F-4DAA-8BAA-06C20E997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258749"/>
              </p:ext>
            </p:extLst>
          </p:nvPr>
        </p:nvGraphicFramePr>
        <p:xfrm>
          <a:off x="4023464" y="5277840"/>
          <a:ext cx="4307533" cy="147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268">
                  <a:extLst>
                    <a:ext uri="{9D8B030D-6E8A-4147-A177-3AD203B41FA5}">
                      <a16:colId xmlns:a16="http://schemas.microsoft.com/office/drawing/2014/main" val="3533572933"/>
                    </a:ext>
                  </a:extLst>
                </a:gridCol>
                <a:gridCol w="3357265">
                  <a:extLst>
                    <a:ext uri="{9D8B030D-6E8A-4147-A177-3AD203B41FA5}">
                      <a16:colId xmlns:a16="http://schemas.microsoft.com/office/drawing/2014/main" val="2563249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Power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 877.16uW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3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DC</a:t>
                      </a:r>
                      <a:r>
                        <a:rPr lang="en-US" altLang="zh-TW" baseline="0" dirty="0"/>
                        <a:t> gain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 42.37dB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41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GBW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362MHz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74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31°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251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188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2A0604-D947-4AA9-B622-0421F22D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u="sng" dirty="0"/>
              <a:t>Different N</a:t>
            </a:r>
            <a:endParaRPr lang="zh-TW" altLang="en-US" u="sng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6EF54C-005C-40CB-BDC1-55156CAE1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    </a:t>
            </a:r>
            <a:r>
              <a:rPr lang="en-US" altLang="zh-TW" dirty="0">
                <a:sym typeface="Wingdings" panose="05000000000000000000" pitchFamily="2" charset="2"/>
              </a:rPr>
              <a:t> Gain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  ,PM</a:t>
            </a:r>
            <a:r>
              <a:rPr lang="zh-TW" altLang="en-US" dirty="0">
                <a:sym typeface="Wingdings" panose="05000000000000000000" pitchFamily="2" charset="2"/>
              </a:rPr>
              <a:t>  </a:t>
            </a:r>
            <a:r>
              <a:rPr lang="en-US" altLang="zh-TW" dirty="0">
                <a:sym typeface="Wingdings" panose="05000000000000000000" pitchFamily="2" charset="2"/>
              </a:rPr>
              <a:t>  ,GBW  ,Power</a:t>
            </a:r>
          </a:p>
          <a:p>
            <a:r>
              <a:rPr lang="en-US" altLang="zh-TW" dirty="0"/>
              <a:t>N    </a:t>
            </a:r>
            <a:r>
              <a:rPr lang="en-US" altLang="zh-TW" dirty="0">
                <a:sym typeface="Wingdings" panose="05000000000000000000" pitchFamily="2" charset="2"/>
              </a:rPr>
              <a:t> Gain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-  ,PM</a:t>
            </a:r>
            <a:r>
              <a:rPr lang="zh-TW" altLang="en-US" dirty="0">
                <a:sym typeface="Wingdings" panose="05000000000000000000" pitchFamily="2" charset="2"/>
              </a:rPr>
              <a:t>  </a:t>
            </a:r>
            <a:r>
              <a:rPr lang="en-US" altLang="zh-TW" dirty="0">
                <a:sym typeface="Wingdings" panose="05000000000000000000" pitchFamily="2" charset="2"/>
              </a:rPr>
              <a:t> ,GBW  ,Power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17" name="投影片編號版面配置區 16">
            <a:extLst>
              <a:ext uri="{FF2B5EF4-FFF2-40B4-BE49-F238E27FC236}">
                <a16:creationId xmlns:a16="http://schemas.microsoft.com/office/drawing/2014/main" id="{111822BE-B59C-45DF-A69A-553F0810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A2B78-DE21-4775-A0A6-913F04E7E08E}" type="slidenum">
              <a:rPr lang="zh-TW" altLang="en-US" smtClean="0"/>
              <a:t>14</a:t>
            </a:fld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157CEEE8-20F6-4D9F-B349-05412A88700E}"/>
              </a:ext>
            </a:extLst>
          </p:cNvPr>
          <p:cNvCxnSpPr/>
          <p:nvPr/>
        </p:nvCxnSpPr>
        <p:spPr>
          <a:xfrm flipV="1">
            <a:off x="1565564" y="1925782"/>
            <a:ext cx="0" cy="277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67D719D2-F13C-4F01-9A49-952A926E0607}"/>
              </a:ext>
            </a:extLst>
          </p:cNvPr>
          <p:cNvCxnSpPr/>
          <p:nvPr/>
        </p:nvCxnSpPr>
        <p:spPr>
          <a:xfrm>
            <a:off x="2909455" y="1911920"/>
            <a:ext cx="0" cy="277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065880A-5910-49C1-9DB8-A86D2AAF87EA}"/>
              </a:ext>
            </a:extLst>
          </p:cNvPr>
          <p:cNvCxnSpPr/>
          <p:nvPr/>
        </p:nvCxnSpPr>
        <p:spPr>
          <a:xfrm>
            <a:off x="3761509" y="1925778"/>
            <a:ext cx="0" cy="277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685B499-C7E1-47A3-8C11-58423839A479}"/>
              </a:ext>
            </a:extLst>
          </p:cNvPr>
          <p:cNvCxnSpPr/>
          <p:nvPr/>
        </p:nvCxnSpPr>
        <p:spPr>
          <a:xfrm flipV="1">
            <a:off x="4835237" y="1904991"/>
            <a:ext cx="0" cy="277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38206D9-ADEA-4926-8647-0F947893B17C}"/>
              </a:ext>
            </a:extLst>
          </p:cNvPr>
          <p:cNvCxnSpPr/>
          <p:nvPr/>
        </p:nvCxnSpPr>
        <p:spPr>
          <a:xfrm flipV="1">
            <a:off x="6026727" y="1904991"/>
            <a:ext cx="0" cy="277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D90128B-30CB-4383-8EB4-D8B309FC7AE2}"/>
              </a:ext>
            </a:extLst>
          </p:cNvPr>
          <p:cNvCxnSpPr/>
          <p:nvPr/>
        </p:nvCxnSpPr>
        <p:spPr>
          <a:xfrm>
            <a:off x="1565564" y="2438393"/>
            <a:ext cx="0" cy="277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B42EAF8-21C8-4E93-B2C6-15DFA9DE3C80}"/>
              </a:ext>
            </a:extLst>
          </p:cNvPr>
          <p:cNvCxnSpPr/>
          <p:nvPr/>
        </p:nvCxnSpPr>
        <p:spPr>
          <a:xfrm flipV="1">
            <a:off x="3761510" y="2376046"/>
            <a:ext cx="0" cy="277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268D51C-F9E1-4E9C-8BD6-5470A57ABC59}"/>
              </a:ext>
            </a:extLst>
          </p:cNvPr>
          <p:cNvCxnSpPr/>
          <p:nvPr/>
        </p:nvCxnSpPr>
        <p:spPr>
          <a:xfrm>
            <a:off x="4814456" y="2417603"/>
            <a:ext cx="0" cy="277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CACEE550-7013-493B-A393-5BA71D282F5C}"/>
              </a:ext>
            </a:extLst>
          </p:cNvPr>
          <p:cNvCxnSpPr/>
          <p:nvPr/>
        </p:nvCxnSpPr>
        <p:spPr>
          <a:xfrm>
            <a:off x="6019800" y="2417603"/>
            <a:ext cx="0" cy="277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808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8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843625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12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968282"/>
            <a:ext cx="12188824" cy="494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9E05064-773A-4323-8C58-B38D52B9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TW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end!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CDBECE-872A-4C73-9DC1-BB4E805E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3894594"/>
            <a:ext cx="27432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028863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436FA8-FF32-4474-A2AA-36C1F5AA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5971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5DA2B78-DE21-4775-A0A6-913F04E7E08E}" type="slidenum">
              <a:rPr lang="en-US" altLang="zh-TW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altLang="zh-TW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050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Microsoft Office PowerPoint</Application>
  <PresentationFormat>寬螢幕</PresentationFormat>
  <Paragraphs>283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標楷體</vt:lpstr>
      <vt:lpstr>Arial</vt:lpstr>
      <vt:lpstr>Calibri</vt:lpstr>
      <vt:lpstr>Calibri Light</vt:lpstr>
      <vt:lpstr>Cambria Math</vt:lpstr>
      <vt:lpstr>Office 佈景主題</vt:lpstr>
      <vt:lpstr>第六組專題報告</vt:lpstr>
      <vt:lpstr>Change OTA into CMOTA </vt:lpstr>
      <vt:lpstr>PowerPoint 簡報</vt:lpstr>
      <vt:lpstr>Design Rules</vt:lpstr>
      <vt:lpstr>CMOTA(N=4.27)</vt:lpstr>
      <vt:lpstr>PowerPoint 簡報</vt:lpstr>
      <vt:lpstr>PowerPoint 簡報</vt:lpstr>
      <vt:lpstr>Decrease N</vt:lpstr>
      <vt:lpstr>PowerPoint 簡報</vt:lpstr>
      <vt:lpstr>PowerPoint 簡報</vt:lpstr>
      <vt:lpstr>Increase N</vt:lpstr>
      <vt:lpstr>PowerPoint 簡報</vt:lpstr>
      <vt:lpstr>PowerPoint 簡報</vt:lpstr>
      <vt:lpstr>Different N</vt:lpstr>
      <vt:lpstr>The end!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第六組專題報告</dc:title>
  <dc:creator>Katherine Yu</dc:creator>
  <cp:lastModifiedBy>Katherine Yu</cp:lastModifiedBy>
  <cp:revision>1</cp:revision>
  <dcterms:created xsi:type="dcterms:W3CDTF">2020-12-24T07:34:58Z</dcterms:created>
  <dcterms:modified xsi:type="dcterms:W3CDTF">2020-12-24T07:35:10Z</dcterms:modified>
</cp:coreProperties>
</file>